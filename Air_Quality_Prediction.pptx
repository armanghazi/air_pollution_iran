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3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2232E"/>
                </a:solidFill>
                <a:latin typeface="Arial"/>
              </a:rPr>
              <a:t>Distribution of AQI Description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3FA796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23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A7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C9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20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44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Excellent</c:v>
                  </c:pt>
                  <c:pt idx="1">
                    <c:v>Good</c:v>
                  </c:pt>
                  <c:pt idx="2">
                    <c:v>Lightly
Polluted</c:v>
                  </c:pt>
                  <c:pt idx="3">
                    <c:v>Moderately
Polluted</c:v>
                  </c:pt>
                  <c:pt idx="4">
                    <c:v>Heavily
Polluted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1190</c:v>
                </c:pt>
                <c:pt idx="2">
                  <c:v>365</c:v>
                </c:pt>
                <c:pt idx="3">
                  <c:v>70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223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3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2232E"/>
                </a:solidFill>
                <a:latin typeface="Arial"/>
              </a:rPr>
              <a:t>Histogram of AQI Values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5DBFDB">
                <a:alpha val="8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0–25</c:v>
                  </c:pt>
                  <c:pt idx="1">
                    <c:v>25–50</c:v>
                  </c:pt>
                  <c:pt idx="2">
                    <c:v>50–75</c:v>
                  </c:pt>
                  <c:pt idx="3">
                    <c:v>75–100</c:v>
                  </c:pt>
                  <c:pt idx="4">
                    <c:v>100–125</c:v>
                  </c:pt>
                  <c:pt idx="5">
                    <c:v>125–150</c:v>
                  </c:pt>
                  <c:pt idx="6">
                    <c:v>150–175</c:v>
                  </c:pt>
                  <c:pt idx="7">
                    <c:v>175–200</c:v>
                  </c:pt>
                  <c:pt idx="8">
                    <c:v>200+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60</c:v>
                </c:pt>
                <c:pt idx="1">
                  <c:v>148</c:v>
                </c:pt>
                <c:pt idx="2">
                  <c:v>360</c:v>
                </c:pt>
                <c:pt idx="3">
                  <c:v>458</c:v>
                </c:pt>
                <c:pt idx="4">
                  <c:v>392</c:v>
                </c:pt>
                <c:pt idx="5">
                  <c:v>312</c:v>
                </c:pt>
                <c:pt idx="6">
                  <c:v>190</c:v>
                </c:pt>
                <c:pt idx="7">
                  <c:v>90</c:v>
                </c:pt>
                <c:pt idx="8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87E8B">
                <a:alpha val="88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3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SO₂</c:v>
                  </c:pt>
                  <c:pt idx="1">
                    <c:v>PM10</c:v>
                  </c:pt>
                  <c:pt idx="2">
                    <c:v>O₃</c:v>
                  </c:pt>
                  <c:pt idx="3">
                    <c:v>NO₂</c:v>
                  </c:pt>
                  <c:pt idx="4">
                    <c:v>CO</c:v>
                  </c:pt>
                  <c:pt idx="5">
                    <c:v>PM2.5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0.0272</c:v>
                </c:pt>
                <c:pt idx="1">
                  <c:v>0.0531</c:v>
                </c:pt>
                <c:pt idx="2">
                  <c:v>0.0532</c:v>
                </c:pt>
                <c:pt idx="3">
                  <c:v>0.0637</c:v>
                </c:pt>
                <c:pt idx="4">
                  <c:v>0.1055</c:v>
                </c:pt>
                <c:pt idx="5">
                  <c:v>0.6973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223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7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87E8B">
                <a:alpha val="88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3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SO₂</c:v>
                  </c:pt>
                  <c:pt idx="1">
                    <c:v>O₃</c:v>
                  </c:pt>
                  <c:pt idx="2">
                    <c:v>PM10</c:v>
                  </c:pt>
                  <c:pt idx="3">
                    <c:v>CO</c:v>
                  </c:pt>
                  <c:pt idx="4">
                    <c:v>NO₂</c:v>
                  </c:pt>
                  <c:pt idx="5">
                    <c:v>PM2.5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0.0434</c:v>
                </c:pt>
                <c:pt idx="1">
                  <c:v>0.0552</c:v>
                </c:pt>
                <c:pt idx="2">
                  <c:v>0.0874</c:v>
                </c:pt>
                <c:pt idx="3">
                  <c:v>0.1056</c:v>
                </c:pt>
                <c:pt idx="4">
                  <c:v>0.1121</c:v>
                </c:pt>
                <c:pt idx="5">
                  <c:v>0.5963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223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7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3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2232E"/>
                </a:solidFill>
                <a:latin typeface="Arial"/>
              </a:rPr>
              <a:t>Regression feature importance — MLP (permutation) vs Gradient Boosting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5DBFDB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PM2.5</c:v>
                  </c:pt>
                  <c:pt idx="1">
                    <c:v>CO</c:v>
                  </c:pt>
                  <c:pt idx="2">
                    <c:v>PM10</c:v>
                  </c:pt>
                  <c:pt idx="3">
                    <c:v>NO₂</c:v>
                  </c:pt>
                  <c:pt idx="4">
                    <c:v>O₃</c:v>
                  </c:pt>
                  <c:pt idx="5">
                    <c:v>SO₂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0.605</c:v>
                </c:pt>
                <c:pt idx="1">
                  <c:v>0.102</c:v>
                </c:pt>
                <c:pt idx="2">
                  <c:v>0.087</c:v>
                </c:pt>
                <c:pt idx="3">
                  <c:v>0.082</c:v>
                </c:pt>
                <c:pt idx="4">
                  <c:v>0.071</c:v>
                </c:pt>
                <c:pt idx="5">
                  <c:v>0.052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Gradient Boosting</c:v>
                </c:pt>
              </c:strCache>
            </c:strRef>
          </c:tx>
          <c:spPr>
            <a:solidFill>
              <a:srgbClr val="0B3954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PM2.5</c:v>
                  </c:pt>
                  <c:pt idx="1">
                    <c:v>CO</c:v>
                  </c:pt>
                  <c:pt idx="2">
                    <c:v>PM10</c:v>
                  </c:pt>
                  <c:pt idx="3">
                    <c:v>NO₂</c:v>
                  </c:pt>
                  <c:pt idx="4">
                    <c:v>O₃</c:v>
                  </c:pt>
                  <c:pt idx="5">
                    <c:v>SO₂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0.697</c:v>
                </c:pt>
                <c:pt idx="1">
                  <c:v>0.106</c:v>
                </c:pt>
                <c:pt idx="2">
                  <c:v>0.053</c:v>
                </c:pt>
                <c:pt idx="3">
                  <c:v>0.064</c:v>
                </c:pt>
                <c:pt idx="4">
                  <c:v>0.053</c:v>
                </c:pt>
                <c:pt idx="5">
                  <c:v>0.027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B718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645920"/>
            <a:ext cx="5943600" cy="5943600"/>
          </a:xfrm>
          <a:prstGeom prst="ellipse">
            <a:avLst/>
          </a:prstGeom>
          <a:solidFill>
            <a:srgbClr val="087E8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731520"/>
            <a:ext cx="4114800" cy="4114800"/>
          </a:xfrm>
          <a:prstGeom prst="ellipse">
            <a:avLst/>
          </a:prstGeom>
          <a:solidFill>
            <a:srgbClr val="5DBFD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0"/>
            <a:ext cx="2651760" cy="2651760"/>
          </a:xfrm>
          <a:prstGeom prst="ellipse">
            <a:avLst/>
          </a:prstGeom>
          <a:solidFill>
            <a:srgbClr val="3FA79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· MACHINE LEARNING · 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Quality Prediction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AQI from CO, O₃, NO₂, SO₂, PM10 &amp; PM2.5 — benchmarking classical ML, ensemble methods, and deep learning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062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4187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Arman Ghaziaskari Naeini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2024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6080760"/>
            <a:ext cx="10881360" cy="0"/>
          </a:xfrm>
          <a:prstGeom prst="line">
            <a:avLst/>
          </a:prstGeom>
          <a:noFill/>
          <a:ln w="12700">
            <a:solidFill>
              <a:srgbClr val="087E8B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study — methodology basis for the live Greater Bilbao GeoAI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Air Quality?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rgbClr val="EAF4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99616"/>
            <a:ext cx="182880" cy="182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533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stakes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88720" y="166420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impact on respiratory and cardiovascular conditions — the reason AQI matters at all.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0080" y="2478024"/>
            <a:ext cx="384048" cy="384048"/>
          </a:xfrm>
          <a:prstGeom prst="ellipse">
            <a:avLst/>
          </a:prstGeom>
          <a:solidFill>
            <a:srgbClr val="EAF4F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578608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43230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as common language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88720" y="27432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composite index that converts multiple pollutant concentrations into one comparable number.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3557016"/>
            <a:ext cx="384048" cy="384048"/>
          </a:xfrm>
          <a:prstGeom prst="ellipse">
            <a:avLst/>
          </a:prstGeom>
          <a:solidFill>
            <a:srgbClr val="EAF4F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65760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5112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tracked pollutants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88720" y="382219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CO, O₃, NO₂, SO₂, PM10, PM2.5 — each with a distinct source profile and health pathway.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4636008"/>
            <a:ext cx="384048" cy="384048"/>
          </a:xfrm>
          <a:prstGeom prst="ellipse">
            <a:avLst/>
          </a:prstGeom>
          <a:solidFill>
            <a:srgbClr val="EAF4F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73659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45902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88720" y="490118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drivers is the foundation for effective pollution management and policy.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492240" y="137160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656832" y="148132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4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</a:t>
            </a:r>
            <a:endParaRPr lang="en-US" sz="2600" dirty="0"/>
          </a:p>
        </p:txBody>
      </p:sp>
      <p:sp>
        <p:nvSpPr>
          <p:cNvPr id="21" name="Text 15"/>
          <p:cNvSpPr/>
          <p:nvPr/>
        </p:nvSpPr>
        <p:spPr>
          <a:xfrm>
            <a:off x="6656832" y="21488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Monoxide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9189720" y="137160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9354312" y="148132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O₃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9354312" y="214884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92240" y="30175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656832" y="312724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7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NO₂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6656832" y="379476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Dioxide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189720" y="301752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9354312" y="312724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SO₂</a:t>
            </a:r>
            <a:endParaRPr lang="en-US" sz="2600" dirty="0"/>
          </a:p>
        </p:txBody>
      </p:sp>
      <p:sp>
        <p:nvSpPr>
          <p:cNvPr id="30" name="Text 24"/>
          <p:cNvSpPr/>
          <p:nvPr/>
        </p:nvSpPr>
        <p:spPr>
          <a:xfrm>
            <a:off x="9354312" y="379476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Sulfur Dioxide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6492240" y="46634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6656832" y="477316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PM10</a:t>
            </a:r>
            <a:endParaRPr lang="en-US" sz="2600" dirty="0"/>
          </a:p>
        </p:txBody>
      </p:sp>
      <p:sp>
        <p:nvSpPr>
          <p:cNvPr id="33" name="Text 27"/>
          <p:cNvSpPr/>
          <p:nvPr/>
        </p:nvSpPr>
        <p:spPr>
          <a:xfrm>
            <a:off x="6656832" y="54406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Particulate (10µm)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9189720" y="46634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9354312" y="4773168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PM2.5</a:t>
            </a:r>
            <a:endParaRPr lang="en-US" sz="2600" dirty="0"/>
          </a:p>
        </p:txBody>
      </p:sp>
      <p:sp>
        <p:nvSpPr>
          <p:cNvPr id="36" name="Text 30"/>
          <p:cNvSpPr/>
          <p:nvPr/>
        </p:nvSpPr>
        <p:spPr>
          <a:xfrm>
            <a:off x="9354312" y="54406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Particulate (2.5µm)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Pollutant Sources — Particulates &amp; Sulfur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737360"/>
            <a:ext cx="822960" cy="822960"/>
          </a:xfrm>
          <a:prstGeom prst="ellipse">
            <a:avLst/>
          </a:prstGeom>
          <a:solidFill>
            <a:srgbClr val="0B39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9476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SO₂ — Sulfur Dioxide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34747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Volcanic gas or sulfuric burning in fossil fuel.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41732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737360"/>
            <a:ext cx="822960" cy="82296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94767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— Coarse Particulates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17720" y="34747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Penetrates the lungs. Produced by dust, wildfires, brush/waste burning, and industrial sources.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55280" y="141732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75320" y="1737360"/>
            <a:ext cx="822960" cy="82296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94767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— Fine Particulates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75320" y="34747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fuel oil, construction sites, transboundary transport, open burning, and traffic.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Pollutant Sources — Gases &amp; Combustion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737360"/>
            <a:ext cx="822960" cy="82296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9476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 — Nitrogen Dioxide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34747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during nitride combustion — the product of a nitrogen oxide photochemical reaction.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41732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737360"/>
            <a:ext cx="822960" cy="82296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94767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O₃ — Ozone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17720" y="34747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pollutant from nitrogen oxide and reactive hydrocarbons reacting photochemically.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55280" y="141732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75320" y="1737360"/>
            <a:ext cx="822960" cy="822960"/>
          </a:xfrm>
          <a:prstGeom prst="ellipse">
            <a:avLst/>
          </a:prstGeom>
          <a:solidFill>
            <a:srgbClr val="F4442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94767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— Carbon Monoxide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75320" y="34747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fire, methane nitridation, biological activity, or incomplete fuel combustion.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846320" cy="1234440"/>
          </a:xfrm>
          <a:prstGeom prst="roundRect">
            <a:avLst>
              <a:gd name="adj" fmla="val 7407"/>
            </a:avLst>
          </a:prstGeom>
          <a:solidFill>
            <a:srgbClr val="0B39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7335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Iranian Environmental Organization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508760" y="1874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4846320" cy="1234440"/>
          </a:xfrm>
          <a:prstGeom prst="roundRect">
            <a:avLst>
              <a:gd name="adj" fmla="val 7407"/>
            </a:avLst>
          </a:prstGeom>
          <a:solidFill>
            <a:srgbClr val="087E8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44952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F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stations across Iran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508760" y="32461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2,123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640080" y="4160520"/>
            <a:ext cx="4846320" cy="2103120"/>
          </a:xfrm>
          <a:prstGeom prst="roundRect">
            <a:avLst>
              <a:gd name="adj" fmla="val 4348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68680" y="43159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Targets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68680" y="466344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Predictors: CO, O₃, NO₂, SO₂, PM10, PM2.5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1: AQI Average (regression)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2: AQI Description (classification, 5 classes)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417320"/>
          <a:ext cx="5669280" cy="45720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3291840"/>
              </a:tblGrid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AQI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0–50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Excellent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51–100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Good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93A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101–150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Lightly Polluted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202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151–200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Moderately Polluted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90C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201–500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Heavily Polluted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44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issues identified and resolved before modeling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5468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3D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using median imputation per pollutant column.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874520"/>
            <a:ext cx="640080" cy="64008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0299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1228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3D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7200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Rows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72000" y="3017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removed to prevent training bias.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55280" y="160020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0" y="1874520"/>
            <a:ext cx="640080" cy="64008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202996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6988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3D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22960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Schema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29600" y="3017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and contents originally in Persian — converted to English for consistency.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008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of cleaned records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526280"/>
          <a:ext cx="10881360" cy="1417320"/>
        </p:xfrm>
        <a:graphic>
          <a:graphicData uri="http://schemas.openxmlformats.org/drawingml/2006/table">
            <a:tbl>
              <a:tblPr/>
              <a:tblGrid>
                <a:gridCol w="1209040"/>
                <a:gridCol w="1209040"/>
                <a:gridCol w="1209040"/>
                <a:gridCol w="1209040"/>
                <a:gridCol w="1209040"/>
                <a:gridCol w="1209040"/>
                <a:gridCol w="1209040"/>
                <a:gridCol w="1209040"/>
                <a:gridCol w="1209040"/>
              </a:tblGrid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Province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O₃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NO₂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SO₂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PM10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PM2.5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AQI Avg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Alborz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50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52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29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19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48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Excellent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Alborz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42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54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52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21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80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105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125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Lightly Polluted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Alborz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40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50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38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27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52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59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75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B7184"/>
                          </a:solidFill>
                        </a:rPr>
                        <a:t>Good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 — AQI Distribution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126480" y="13716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distribution — most readings fall in Good/Excellent range, with a long tail of episodic high-pollution events.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— Model Leaderboard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AQI Average as a continuous value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6675120" cy="4663440"/>
        </p:xfrm>
        <a:graphic>
          <a:graphicData uri="http://schemas.openxmlformats.org/drawingml/2006/table">
            <a:tbl>
              <a:tblPr/>
              <a:tblGrid>
                <a:gridCol w="914400"/>
                <a:gridCol w="3474720"/>
                <a:gridCol w="1143000"/>
                <a:gridCol w="1143000"/>
              </a:tblGrid>
              <a:tr h="423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Gradient Boosting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4.58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0.909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Random Forest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4.95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0.905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XGBoost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4.96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0.906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KNN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5.13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0.873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Decision Tree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5.33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0.857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SVR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6.48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0.814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ElasticNet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13.00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0.693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Lasso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13.00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0.693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Linear Regression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13.02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0.692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Ridge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13.02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2232E"/>
                          </a:solidFill>
                        </a:rPr>
                        <a:t>0.692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55448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0B39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78308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3920" y="1828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regressor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86384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786384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4.58  ·  R² 0.909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863840" y="3200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0.05 · max_depth 10 · n_estimators 300 · subsample 0.8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7589520" y="393192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863840" y="4114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863840" y="4480560"/>
            <a:ext cx="3520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(GB, RF, XGB) dominate — R² &gt; 0.90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plateau near R² = 0.69 — the AQI/pollutant relationship is non-linear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rank 6 and 7 (R² 0.81 → 0.69) marks where linearity breaks down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— Feature Importance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— which pollutants drive the AQI prediction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08760"/>
            <a:ext cx="4114800" cy="4480560"/>
          </a:xfrm>
          <a:prstGeom prst="roundRect">
            <a:avLst>
              <a:gd name="adj" fmla="val 2222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8096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80960" y="2103120"/>
            <a:ext cx="3611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dominates at 69.7% — controlling fine-particulate emissions should be the primary policy lever.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contributes 10.6% — highlights the need to monitor traffic and combustion activity.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NO₂, O₃, and PM10 sit near 5–6% each — secondary but non-negligible drivers.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SO₂ is the weakest predictor (2.7%) — episodic, point-source behavior limits its explanatory power.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— Model Leaderboard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AQI Description — 5-class category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420624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280160"/>
                <a:gridCol w="1280160"/>
                <a:gridCol w="1280160"/>
              </a:tblGrid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ROC AUC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Gradient Boosting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0.943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0.984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0.725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0.722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796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0.933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0.972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0.729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0.727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0.928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0.990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0.722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0.710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KNN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0.926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0.944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0.927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0.913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0.907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0.837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0.708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0.703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SVC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0.861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0.971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0.678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0.671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0.773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0.866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0.611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32E"/>
                          </a:solidFill>
                        </a:rPr>
                        <a:t>0.585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554480"/>
            <a:ext cx="2788920" cy="4206240"/>
          </a:xfrm>
          <a:prstGeom prst="roundRect">
            <a:avLst>
              <a:gd name="adj" fmla="val 3279"/>
            </a:avLst>
          </a:prstGeom>
          <a:solidFill>
            <a:srgbClr val="0B39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17830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32520" y="2331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classifier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8732520" y="2606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732520" y="34747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94.3%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8732520" y="3977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9006840" y="4526280"/>
            <a:ext cx="1920240" cy="0"/>
          </a:xfrm>
          <a:prstGeom prst="line">
            <a:avLst/>
          </a:prstGeom>
          <a:noFill/>
          <a:ln w="12700">
            <a:solidFill>
              <a:srgbClr val="087E8B">
                <a:alpha val="6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006840" y="4709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0.725 and recall 0.722 trail KNN — a known precision/recall trade-off in imbalanced multi-class settings.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— Feature Importance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Classifier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08760"/>
            <a:ext cx="4114800" cy="4480560"/>
          </a:xfrm>
          <a:prstGeom prst="roundRect">
            <a:avLst>
              <a:gd name="adj" fmla="val 2222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8096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80960" y="2103120"/>
            <a:ext cx="3611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again leads (59.6%) — consistent with the regression task.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NO₂ and CO together contribute ~22% — traffic and combustion signal carries into the categorical task too.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ranking of PM10/O₃/SO₂ stays the same across both tasks — a sign of model agreement, not data artifact.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— MLP vs. Gradient Boosting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10881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21208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4864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08760" y="534924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architectures converge on the same conclusion: PM2.5 carries the majority of predictive weight, validating it as the primary policy lever regardless of model family. Best MLP config: 122 neurons, dropout 0.111, lr 0.00185, batch 22, 381 epochs.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between pollutants and AQI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7040880" cy="4206240"/>
        </p:xfrm>
        <a:graphic>
          <a:graphicData uri="http://schemas.openxmlformats.org/drawingml/2006/table">
            <a:tbl>
              <a:tblPr/>
              <a:tblGrid>
                <a:gridCol w="868680"/>
                <a:gridCol w="877824"/>
                <a:gridCol w="877824"/>
                <a:gridCol w="877824"/>
                <a:gridCol w="877824"/>
                <a:gridCol w="877824"/>
                <a:gridCol w="877824"/>
                <a:gridCol w="877824"/>
              </a:tblGrid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O₃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NO₂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SO₂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PM10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PM2.5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AQI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4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0.40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4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0.22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6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-0.02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0.35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E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0.04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0.33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B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O₃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0.40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4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4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0.46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0.33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0.33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0.51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0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0.56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68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NO₂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0.22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6D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0.46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9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4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-0.25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CA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0.01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0.43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0.41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2A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SO₂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-0.02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0.33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-0.25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CA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4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-0.11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-0.11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PM10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0.35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E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0.33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0.01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-0.11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4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0.65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0.62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B7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PM2.5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0.04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0.51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0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0.43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-0.11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E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0.65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44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695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AQI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0.33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B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0.56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6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0.41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2A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2232E"/>
                          </a:solidFill>
                        </a:rPr>
                        <a:t>0.00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0.62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B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0.80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69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442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5087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0" y="2103120"/>
            <a:ext cx="3063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↔ AQI: r = 0.80 — the strongest single correlation in the matrix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↔ AQI: r = 0.62 — second strongest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SO₂ ↔ AQI: r ≈ 0.00 — essentially uncorrelated at the network level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SO₂ ↔ NO₂: r = −0.25 — the only meaningfully negative pairwise relationship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87E8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94360" cy="59436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773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716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is the dominant feature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17373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the top predictor across every model family — regression, classification, tree-based, and neural — confirming both statistical and physical importance.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594360" cy="59436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9946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7889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wins on both tasks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63040" y="315468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MAE (4.58) in regression and highest accuracy (94.3%) in classification.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251960"/>
            <a:ext cx="594360" cy="59436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4119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2062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models are competitive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63040" y="457200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results and useful flexibility for cross-checking feature importance via permutation methods.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Directions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identified extensions — the seeds of the next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685800" cy="685800"/>
          </a:xfrm>
          <a:prstGeom prst="ellipse">
            <a:avLst/>
          </a:prstGeom>
          <a:solidFill>
            <a:srgbClr val="087E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20436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0" y="18288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3D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one area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geographic scope reveals localized patterns — seasonal trends, traffic density, industrial pollution — invisible at national scale.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60020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874520"/>
            <a:ext cx="685800" cy="685800"/>
          </a:xfrm>
          <a:prstGeom prst="ellipse">
            <a:avLst/>
          </a:prstGeom>
          <a:solidFill>
            <a:srgbClr val="5DBFD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164" y="204368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0" y="18288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3D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7200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meteorological factors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72000" y="32918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humidity, and wind speed are missing from this dataset — yet physically drive dispersion and accumulation.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55280" y="1600200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EAF4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0" y="1874520"/>
            <a:ext cx="685800" cy="685800"/>
          </a:xfrm>
          <a:prstGeom prst="ellipse">
            <a:avLst/>
          </a:prstGeom>
          <a:solidFill>
            <a:srgbClr val="3FA79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764" y="204368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0" y="18288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3D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22960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time series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29600" y="32918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AQI behavior over time AND space — not just a single snapshot regression.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087E8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731520"/>
            <a:ext cx="4206240" cy="4206240"/>
          </a:xfrm>
          <a:prstGeom prst="ellipse">
            <a:avLst/>
          </a:prstGeom>
          <a:solidFill>
            <a:srgbClr val="3FA79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D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TO PRODUCTION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future direction here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already implemented — live.</a:t>
            </a:r>
            <a:endParaRPr lang="en-US" sz="3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6557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290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geography → 7-station Greater Bilbao network with full GIS spatial analysis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32504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39959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Meteorological factors → Temperature, humidity, wind, precipitation fully integrated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9943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456285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→ XGBoost next-day forecasting, validated on 2024–2026 held-out data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40080" y="544068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087E8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733288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557784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continue live on the GeoAI Smart City Air Quality Platform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Quality Prediction — Methodology &amp; Live Platform</dc:title>
  <dc:subject>PptxGenJS Presentation</dc:subject>
  <dc:creator>Arman Ghaziaskari Naeini</dc:creator>
  <cp:lastModifiedBy>Arman Ghaziaskari Naeini</cp:lastModifiedBy>
  <cp:revision>1</cp:revision>
  <dcterms:created xsi:type="dcterms:W3CDTF">2026-06-30T10:04:31Z</dcterms:created>
  <dcterms:modified xsi:type="dcterms:W3CDTF">2026-06-30T10:04:31Z</dcterms:modified>
</cp:coreProperties>
</file>