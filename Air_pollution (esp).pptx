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2" r:id="rId1"/>
  </p:sldMasterIdLst>
  <p:notesMasterIdLst>
    <p:notesMasterId r:id="rId27"/>
  </p:notesMasterIdLst>
  <p:sldIdLst>
    <p:sldId id="256" r:id="rId2"/>
    <p:sldId id="285" r:id="rId3"/>
    <p:sldId id="286" r:id="rId4"/>
    <p:sldId id="259" r:id="rId5"/>
    <p:sldId id="258" r:id="rId6"/>
    <p:sldId id="257" r:id="rId7"/>
    <p:sldId id="305" r:id="rId8"/>
    <p:sldId id="306" r:id="rId9"/>
    <p:sldId id="294" r:id="rId10"/>
    <p:sldId id="313" r:id="rId11"/>
    <p:sldId id="296" r:id="rId12"/>
    <p:sldId id="293" r:id="rId13"/>
    <p:sldId id="288" r:id="rId14"/>
    <p:sldId id="314" r:id="rId15"/>
    <p:sldId id="302" r:id="rId16"/>
    <p:sldId id="303" r:id="rId17"/>
    <p:sldId id="301" r:id="rId18"/>
    <p:sldId id="309" r:id="rId19"/>
    <p:sldId id="308" r:id="rId20"/>
    <p:sldId id="315" r:id="rId21"/>
    <p:sldId id="316" r:id="rId22"/>
    <p:sldId id="317" r:id="rId23"/>
    <p:sldId id="312" r:id="rId24"/>
    <p:sldId id="272" r:id="rId25"/>
    <p:sldId id="284" r:id="rId26"/>
  </p:sldIdLst>
  <p:sldSz cx="12192000" cy="6858000"/>
  <p:notesSz cx="6858000" cy="9144000"/>
  <p:defaultTextStyle>
    <a:defPPr>
      <a:defRPr lang="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E2A00"/>
    <a:srgbClr val="FF3300"/>
    <a:srgbClr val="FF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651" autoAdjust="0"/>
    <p:restoredTop sz="94621" autoAdjust="0"/>
  </p:normalViewPr>
  <p:slideViewPr>
    <p:cSldViewPr snapToGrid="0">
      <p:cViewPr varScale="1">
        <p:scale>
          <a:sx n="93" d="100"/>
          <a:sy n="93" d="100"/>
        </p:scale>
        <p:origin x="456" y="72"/>
      </p:cViewPr>
      <p:guideLst/>
    </p:cSldViewPr>
  </p:slideViewPr>
  <p:outlineViewPr>
    <p:cViewPr>
      <p:scale>
        <a:sx n="33" d="100"/>
        <a:sy n="33" d="100"/>
      </p:scale>
      <p:origin x="0" y="-115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CD0DC7E-6256-44F7-A6F0-B2C6E3C20584}" type="datetimeFigureOut">
              <a:rPr lang="es-ES" smtClean="0"/>
              <a:t>14/04/2025</a:t>
            </a:fld>
            <a:endParaRPr lang="es-E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890879-944F-4913-A801-479726D535AA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453152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8" name="Google Shape;1128;SLIDES_API620282262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9" name="Google Shape;1129;SLIDES_API620282262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4">
          <a:extLst>
            <a:ext uri="{FF2B5EF4-FFF2-40B4-BE49-F238E27FC236}">
              <a16:creationId xmlns:a16="http://schemas.microsoft.com/office/drawing/2014/main" id="{E4651B93-ABC4-CE03-D535-ABEC10DB70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5" name="Google Shape;1135;SLIDES_API620282262_11:notes">
            <a:extLst>
              <a:ext uri="{FF2B5EF4-FFF2-40B4-BE49-F238E27FC236}">
                <a16:creationId xmlns:a16="http://schemas.microsoft.com/office/drawing/2014/main" id="{9B6588DE-CB22-BAC1-47B2-7AECAF3F5B7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6" name="Google Shape;1136;SLIDES_API620282262_11:notes">
            <a:extLst>
              <a:ext uri="{FF2B5EF4-FFF2-40B4-BE49-F238E27FC236}">
                <a16:creationId xmlns:a16="http://schemas.microsoft.com/office/drawing/2014/main" id="{88F7B1EA-9BB7-7A83-CF5B-5CB3937473F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736958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5" name="Google Shape;1135;SLIDES_API620282262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6" name="Google Shape;1136;SLIDES_API620282262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4E6D78-7A84-02E4-3F52-D4AD84BA4E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B10CF3-DA3A-CAC4-08EE-8B501568A7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089290-D74E-EF42-1F12-63164695DA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6341E-1CBB-48DE-8CE0-A621BBE7DB28}" type="datetimeFigureOut">
              <a:rPr lang="es-ES" smtClean="0"/>
              <a:t>14/04/2025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B42F6A-ADC4-6A54-784B-3421E59FC2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178F04-59EE-3140-042C-D5D481A90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422D5C-81EC-487D-985B-07F6FE9B92B2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060184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121CD4-4821-0C0F-048A-5A2180F77B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A87991-959C-9BB2-3171-07E0658222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90F7AC-82FC-69AE-BC58-3BF7B95E92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6341E-1CBB-48DE-8CE0-A621BBE7DB28}" type="datetimeFigureOut">
              <a:rPr lang="es-ES" smtClean="0"/>
              <a:t>14/04/2025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98FA7A-4A23-E4D9-0AEF-A6899C8183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2C64B7-4150-8F6E-A20A-9C05B2A4C0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422D5C-81EC-487D-985B-07F6FE9B92B2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85209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4D14C-A06F-4671-6D73-791DBC2E1E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F4E90B-DA5A-CB94-A46C-9C6B90D707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71198E-57BE-D68F-DD03-9B95A6AFCE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6341E-1CBB-48DE-8CE0-A621BBE7DB28}" type="datetimeFigureOut">
              <a:rPr lang="es-ES" smtClean="0"/>
              <a:t>14/04/2025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E454E3-862C-DDF4-3CD5-0D0A4AFCEB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8F3991-B903-670C-34CC-012678FFDD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422D5C-81EC-487D-985B-07F6FE9B92B2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612441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4BA471-0B04-130B-5A96-6BA967784F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20195F-DB21-6A32-9632-4244F55C39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2C24E6-38D9-4B2E-B828-701652498E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7AB728-2AE5-C0E9-6647-ED7492F7BE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6341E-1CBB-48DE-8CE0-A621BBE7DB28}" type="datetimeFigureOut">
              <a:rPr lang="es-ES" smtClean="0"/>
              <a:t>14/04/2025</a:t>
            </a:fld>
            <a:endParaRPr lang="es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9BEF99-18ED-FEBD-C004-063BD8FADB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63CB92-D9F6-9B62-27B7-10AC7EF892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422D5C-81EC-487D-985B-07F6FE9B92B2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316541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68B52A-7999-A4D0-F4FB-08513D18A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B3FBE7-D743-49BC-6EC6-0B325AB583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1F593F-D211-E737-C6C3-D6F2A394E2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818601D-42FC-6039-5096-1B6E5B33E73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3E847D2-49D5-1EBB-8255-83C5877E2E4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AEF0CB6-99F0-02D7-60C1-E23C9E481F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6341E-1CBB-48DE-8CE0-A621BBE7DB28}" type="datetimeFigureOut">
              <a:rPr lang="es-ES" smtClean="0"/>
              <a:t>14/04/2025</a:t>
            </a:fld>
            <a:endParaRPr lang="es-E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B7DB6FA-FED6-DB00-78A0-CC5288BA8E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FF8336A-343F-0804-D3C8-1148CEB2D5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422D5C-81EC-487D-985B-07F6FE9B92B2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313819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618F25-EB42-73BD-FC15-A7B3E12BBB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D068F0-DC02-9D0D-BDFD-0A6EE7B257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6341E-1CBB-48DE-8CE0-A621BBE7DB28}" type="datetimeFigureOut">
              <a:rPr lang="es-ES" smtClean="0"/>
              <a:t>14/04/2025</a:t>
            </a:fld>
            <a:endParaRPr lang="es-E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D51D81D-37FD-7187-F4B0-76049749CF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8FF6BC-7C70-4FF9-C0BE-4F42CCE624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422D5C-81EC-487D-985B-07F6FE9B92B2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517677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22B2B66-D805-6433-7B18-EC3847584A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6341E-1CBB-48DE-8CE0-A621BBE7DB28}" type="datetimeFigureOut">
              <a:rPr lang="es-ES" smtClean="0"/>
              <a:t>14/04/2025</a:t>
            </a:fld>
            <a:endParaRPr lang="es-E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8E829BA-8F67-1B03-DBAB-2DFA5C76A3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D36CC5-BC72-AEBB-20BA-5DC1DE1896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422D5C-81EC-487D-985B-07F6FE9B92B2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69307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D23599-F629-F16F-0C41-35EA781D40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6641A4-44BA-27BF-F8D5-D98D0FADFD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5A70B6-B0ED-55EE-62AC-800725CCA8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0BFA63-8A54-8713-A647-E9CEF40922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6341E-1CBB-48DE-8CE0-A621BBE7DB28}" type="datetimeFigureOut">
              <a:rPr lang="es-ES" smtClean="0"/>
              <a:t>14/04/2025</a:t>
            </a:fld>
            <a:endParaRPr lang="es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E59015-F828-1276-B8AC-48E6B05AFE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8543CD-C2E3-243D-B461-6599B9F2B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422D5C-81EC-487D-985B-07F6FE9B92B2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287382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B126D6-0777-6BE0-D6BC-16A161943E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AB41EF3-E7AA-1242-3F94-EEBA0BE3A25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E7574D-D1E5-1CFE-C4AF-D3FA26135C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D9E0E0-C89D-766B-5CFE-226C70EB3E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6341E-1CBB-48DE-8CE0-A621BBE7DB28}" type="datetimeFigureOut">
              <a:rPr lang="es-ES" smtClean="0"/>
              <a:t>14/04/2025</a:t>
            </a:fld>
            <a:endParaRPr lang="es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036214-4789-B403-73EB-328A6100F0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57D2D8-3A5C-1E4B-FAE1-86BD9932A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422D5C-81EC-487D-985B-07F6FE9B92B2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373482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744C14-AD1A-6173-B707-EFFA77A4BD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4941E2-417F-15E2-F870-3C9C3B4CCE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F626F0-A892-58FB-968D-741DD1C7F7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6341E-1CBB-48DE-8CE0-A621BBE7DB28}" type="datetimeFigureOut">
              <a:rPr lang="es-ES" smtClean="0"/>
              <a:t>14/04/2025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8A10F6-9944-8ECE-19B0-EADF007AA6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EABC82-A039-4B71-95CE-3A7A9D500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422D5C-81EC-487D-985B-07F6FE9B92B2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986837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18182DC-DE7F-3AF1-7393-6BC6F97D7D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D9E8871-0EF4-BF54-E146-CA81FFDEAB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24235E-8BCC-409A-1FF3-AD799ABD27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6341E-1CBB-48DE-8CE0-A621BBE7DB28}" type="datetimeFigureOut">
              <a:rPr lang="es-ES" smtClean="0"/>
              <a:t>14/04/2025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51CB32-835E-F2DB-7405-01FC72434B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A9F9F7-CCFD-9D95-8F9F-2372BA8D11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422D5C-81EC-487D-985B-07F6FE9B92B2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602432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With Bullet Points v1">
  <p:cSld name="Slide With Bullet Points v1"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0"/>
          <p:cNvSpPr/>
          <p:nvPr/>
        </p:nvSpPr>
        <p:spPr>
          <a:xfrm>
            <a:off x="11148105" y="5396763"/>
            <a:ext cx="2117600" cy="2117600"/>
          </a:xfrm>
          <a:prstGeom prst="donut">
            <a:avLst>
              <a:gd name="adj" fmla="val 17041"/>
            </a:avLst>
          </a:prstGeom>
          <a:noFill/>
          <a:ln w="38100" cap="flat" cmpd="sng">
            <a:solidFill>
              <a:schemeClr val="lt1"/>
            </a:solidFill>
            <a:prstDash val="lgDash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255" name="Google Shape;255;p20"/>
          <p:cNvGrpSpPr/>
          <p:nvPr/>
        </p:nvGrpSpPr>
        <p:grpSpPr>
          <a:xfrm>
            <a:off x="3171556" y="-917625"/>
            <a:ext cx="3036717" cy="3036717"/>
            <a:chOff x="987244" y="313753"/>
            <a:chExt cx="555321" cy="555321"/>
          </a:xfrm>
        </p:grpSpPr>
        <p:grpSp>
          <p:nvGrpSpPr>
            <p:cNvPr id="256" name="Google Shape;256;p20"/>
            <p:cNvGrpSpPr/>
            <p:nvPr/>
          </p:nvGrpSpPr>
          <p:grpSpPr>
            <a:xfrm>
              <a:off x="1068575" y="395075"/>
              <a:ext cx="392675" cy="392675"/>
              <a:chOff x="458050" y="265600"/>
              <a:chExt cx="392675" cy="392675"/>
            </a:xfrm>
          </p:grpSpPr>
          <p:sp>
            <p:nvSpPr>
              <p:cNvPr id="257" name="Google Shape;257;p20"/>
              <p:cNvSpPr/>
              <p:nvPr/>
            </p:nvSpPr>
            <p:spPr>
              <a:xfrm>
                <a:off x="638050" y="265600"/>
                <a:ext cx="32700" cy="1353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258" name="Google Shape;258;p20"/>
              <p:cNvSpPr/>
              <p:nvPr/>
            </p:nvSpPr>
            <p:spPr>
              <a:xfrm>
                <a:off x="638050" y="522975"/>
                <a:ext cx="32700" cy="1353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259" name="Google Shape;259;p20"/>
              <p:cNvSpPr/>
              <p:nvPr/>
            </p:nvSpPr>
            <p:spPr>
              <a:xfrm rot="-5400000">
                <a:off x="509350" y="394275"/>
                <a:ext cx="32700" cy="1353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260" name="Google Shape;260;p20"/>
              <p:cNvSpPr/>
              <p:nvPr/>
            </p:nvSpPr>
            <p:spPr>
              <a:xfrm rot="-5400000">
                <a:off x="766725" y="394275"/>
                <a:ext cx="32700" cy="1353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</p:grpSp>
        <p:grpSp>
          <p:nvGrpSpPr>
            <p:cNvPr id="261" name="Google Shape;261;p20"/>
            <p:cNvGrpSpPr/>
            <p:nvPr/>
          </p:nvGrpSpPr>
          <p:grpSpPr>
            <a:xfrm rot="-2700000">
              <a:off x="1068569" y="395078"/>
              <a:ext cx="392671" cy="392671"/>
              <a:chOff x="458050" y="265600"/>
              <a:chExt cx="392675" cy="392675"/>
            </a:xfrm>
          </p:grpSpPr>
          <p:sp>
            <p:nvSpPr>
              <p:cNvPr id="262" name="Google Shape;262;p20"/>
              <p:cNvSpPr/>
              <p:nvPr/>
            </p:nvSpPr>
            <p:spPr>
              <a:xfrm>
                <a:off x="638050" y="265600"/>
                <a:ext cx="32700" cy="1353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263" name="Google Shape;263;p20"/>
              <p:cNvSpPr/>
              <p:nvPr/>
            </p:nvSpPr>
            <p:spPr>
              <a:xfrm>
                <a:off x="638050" y="522975"/>
                <a:ext cx="32700" cy="1353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264" name="Google Shape;264;p20"/>
              <p:cNvSpPr/>
              <p:nvPr/>
            </p:nvSpPr>
            <p:spPr>
              <a:xfrm rot="-5400000">
                <a:off x="509350" y="394275"/>
                <a:ext cx="32700" cy="1353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265" name="Google Shape;265;p20"/>
              <p:cNvSpPr/>
              <p:nvPr/>
            </p:nvSpPr>
            <p:spPr>
              <a:xfrm rot="-5400000">
                <a:off x="766725" y="394275"/>
                <a:ext cx="32700" cy="1353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</p:grpSp>
      </p:grpSp>
      <p:sp>
        <p:nvSpPr>
          <p:cNvPr id="266" name="Google Shape;266;p20"/>
          <p:cNvSpPr/>
          <p:nvPr/>
        </p:nvSpPr>
        <p:spPr>
          <a:xfrm>
            <a:off x="-80867" y="3239200"/>
            <a:ext cx="5556800" cy="3681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67" name="Google Shape;267;p20"/>
          <p:cNvSpPr txBox="1">
            <a:spLocks noGrp="1"/>
          </p:cNvSpPr>
          <p:nvPr>
            <p:ph type="title"/>
          </p:nvPr>
        </p:nvSpPr>
        <p:spPr>
          <a:xfrm>
            <a:off x="6219767" y="932133"/>
            <a:ext cx="5556800" cy="61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268" name="Google Shape;268;p20"/>
          <p:cNvSpPr/>
          <p:nvPr/>
        </p:nvSpPr>
        <p:spPr>
          <a:xfrm>
            <a:off x="-80867" y="-114167"/>
            <a:ext cx="3147600" cy="3353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69" name="Google Shape;269;p20"/>
          <p:cNvSpPr>
            <a:spLocks noGrp="1"/>
          </p:cNvSpPr>
          <p:nvPr>
            <p:ph type="pic" idx="2"/>
          </p:nvPr>
        </p:nvSpPr>
        <p:spPr>
          <a:xfrm>
            <a:off x="375767" y="356733"/>
            <a:ext cx="4635200" cy="6132000"/>
          </a:xfrm>
          <a:prstGeom prst="snip1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270" name="Google Shape;270;p20"/>
          <p:cNvSpPr/>
          <p:nvPr/>
        </p:nvSpPr>
        <p:spPr>
          <a:xfrm>
            <a:off x="-80867" y="6492700"/>
            <a:ext cx="456800" cy="42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71" name="Google Shape;271;p20"/>
          <p:cNvSpPr txBox="1">
            <a:spLocks noGrp="1"/>
          </p:cNvSpPr>
          <p:nvPr>
            <p:ph type="body" idx="1"/>
          </p:nvPr>
        </p:nvSpPr>
        <p:spPr>
          <a:xfrm>
            <a:off x="6313100" y="1945067"/>
            <a:ext cx="5463600" cy="3451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397923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marL="1219170" lvl="1" indent="-397923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828754" lvl="2" indent="-397923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2438339" lvl="3" indent="-397923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3047924" lvl="4" indent="-397923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3657509" lvl="5" indent="-397923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4267093" lvl="6" indent="-397923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4876678" lvl="7" indent="-397923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5486263" lvl="8" indent="-397923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57698652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with 3 columns-v3 1 Image">
  <p:cSld name="Slide with 3 columns-v3 1 Image">
    <p:spTree>
      <p:nvGrpSpPr>
        <p:cNvPr id="1" name="Shape 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" name="Google Shape;821;p37"/>
          <p:cNvSpPr txBox="1">
            <a:spLocks noGrp="1"/>
          </p:cNvSpPr>
          <p:nvPr>
            <p:ph type="title"/>
          </p:nvPr>
        </p:nvSpPr>
        <p:spPr>
          <a:xfrm>
            <a:off x="644400" y="461533"/>
            <a:ext cx="10903200" cy="742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None/>
              <a:defRPr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 sz="4533"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 sz="4533"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 sz="4533"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 sz="4533"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 sz="4533"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 sz="4533"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 sz="4533"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 sz="4533"/>
            </a:lvl9pPr>
          </a:lstStyle>
          <a:p>
            <a:endParaRPr/>
          </a:p>
        </p:txBody>
      </p:sp>
      <p:sp>
        <p:nvSpPr>
          <p:cNvPr id="822" name="Google Shape;822;p37"/>
          <p:cNvSpPr txBox="1">
            <a:spLocks noGrp="1"/>
          </p:cNvSpPr>
          <p:nvPr>
            <p:ph type="subTitle" idx="1"/>
          </p:nvPr>
        </p:nvSpPr>
        <p:spPr>
          <a:xfrm>
            <a:off x="1032700" y="3317967"/>
            <a:ext cx="2996800" cy="241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867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823" name="Google Shape;823;p37"/>
          <p:cNvSpPr txBox="1">
            <a:spLocks noGrp="1"/>
          </p:cNvSpPr>
          <p:nvPr>
            <p:ph type="body" idx="2"/>
          </p:nvPr>
        </p:nvSpPr>
        <p:spPr>
          <a:xfrm>
            <a:off x="1032700" y="3775871"/>
            <a:ext cx="2996800" cy="2201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39792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1pPr>
            <a:lvl2pPr marL="1219170" lvl="1" indent="-39792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2pPr>
            <a:lvl3pPr marL="1828754" lvl="2" indent="-39792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3pPr>
            <a:lvl4pPr marL="2438339" lvl="3" indent="-39792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4pPr>
            <a:lvl5pPr marL="3047924" lvl="4" indent="-39792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5pPr>
            <a:lvl6pPr marL="3657509" lvl="5" indent="-39792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6pPr>
            <a:lvl7pPr marL="4267093" lvl="6" indent="-39792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7pPr>
            <a:lvl8pPr marL="4876678" lvl="7" indent="-39792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8pPr>
            <a:lvl9pPr marL="5486263" lvl="8" indent="-39792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824" name="Google Shape;824;p37"/>
          <p:cNvSpPr/>
          <p:nvPr/>
        </p:nvSpPr>
        <p:spPr>
          <a:xfrm flipH="1">
            <a:off x="10887967" y="77732"/>
            <a:ext cx="1509600" cy="1509600"/>
          </a:xfrm>
          <a:prstGeom prst="donut">
            <a:avLst>
              <a:gd name="adj" fmla="val 17041"/>
            </a:avLst>
          </a:prstGeom>
          <a:noFill/>
          <a:ln w="38100" cap="flat" cmpd="sng">
            <a:solidFill>
              <a:schemeClr val="lt1"/>
            </a:solidFill>
            <a:prstDash val="lgDash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825" name="Google Shape;825;p37"/>
          <p:cNvGrpSpPr/>
          <p:nvPr/>
        </p:nvGrpSpPr>
        <p:grpSpPr>
          <a:xfrm rot="-5400000">
            <a:off x="-1513386" y="3670527"/>
            <a:ext cx="4423039" cy="312464"/>
            <a:chOff x="-4640549" y="265600"/>
            <a:chExt cx="5491274" cy="392675"/>
          </a:xfrm>
        </p:grpSpPr>
        <p:sp>
          <p:nvSpPr>
            <p:cNvPr id="826" name="Google Shape;826;p37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827" name="Google Shape;827;p37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828" name="Google Shape;828;p37"/>
            <p:cNvSpPr/>
            <p:nvPr/>
          </p:nvSpPr>
          <p:spPr>
            <a:xfrm rot="-5400000">
              <a:off x="-2039849" y="-2155107"/>
              <a:ext cx="32700" cy="52341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829" name="Google Shape;829;p37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sp>
        <p:nvSpPr>
          <p:cNvPr id="830" name="Google Shape;830;p37"/>
          <p:cNvSpPr txBox="1">
            <a:spLocks noGrp="1"/>
          </p:cNvSpPr>
          <p:nvPr>
            <p:ph type="subTitle" idx="3"/>
          </p:nvPr>
        </p:nvSpPr>
        <p:spPr>
          <a:xfrm>
            <a:off x="8626133" y="3318739"/>
            <a:ext cx="2996800" cy="241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867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831" name="Google Shape;831;p37"/>
          <p:cNvSpPr txBox="1">
            <a:spLocks noGrp="1"/>
          </p:cNvSpPr>
          <p:nvPr>
            <p:ph type="body" idx="4"/>
          </p:nvPr>
        </p:nvSpPr>
        <p:spPr>
          <a:xfrm>
            <a:off x="8626133" y="3817024"/>
            <a:ext cx="2996800" cy="2201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39792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1pPr>
            <a:lvl2pPr marL="1219170" lvl="1" indent="-39792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2pPr>
            <a:lvl3pPr marL="1828754" lvl="2" indent="-39792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3pPr>
            <a:lvl4pPr marL="2438339" lvl="3" indent="-39792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4pPr>
            <a:lvl5pPr marL="3047924" lvl="4" indent="-39792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5pPr>
            <a:lvl6pPr marL="3657509" lvl="5" indent="-39792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6pPr>
            <a:lvl7pPr marL="4267093" lvl="6" indent="-39792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7pPr>
            <a:lvl8pPr marL="4876678" lvl="7" indent="-39792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8pPr>
            <a:lvl9pPr marL="5486263" lvl="8" indent="-39792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grpSp>
        <p:nvGrpSpPr>
          <p:cNvPr id="832" name="Google Shape;832;p37"/>
          <p:cNvGrpSpPr/>
          <p:nvPr/>
        </p:nvGrpSpPr>
        <p:grpSpPr>
          <a:xfrm rot="-5400000">
            <a:off x="6080049" y="3737612"/>
            <a:ext cx="4423039" cy="312464"/>
            <a:chOff x="-4640549" y="265600"/>
            <a:chExt cx="5491274" cy="392675"/>
          </a:xfrm>
        </p:grpSpPr>
        <p:sp>
          <p:nvSpPr>
            <p:cNvPr id="833" name="Google Shape;833;p37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834" name="Google Shape;834;p37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835" name="Google Shape;835;p37"/>
            <p:cNvSpPr/>
            <p:nvPr/>
          </p:nvSpPr>
          <p:spPr>
            <a:xfrm rot="-5400000">
              <a:off x="-2039849" y="-2155107"/>
              <a:ext cx="32700" cy="52341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836" name="Google Shape;836;p37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sp>
        <p:nvSpPr>
          <p:cNvPr id="837" name="Google Shape;837;p37"/>
          <p:cNvSpPr txBox="1">
            <a:spLocks noGrp="1"/>
          </p:cNvSpPr>
          <p:nvPr>
            <p:ph type="subTitle" idx="5"/>
          </p:nvPr>
        </p:nvSpPr>
        <p:spPr>
          <a:xfrm>
            <a:off x="4829417" y="3317967"/>
            <a:ext cx="2996800" cy="241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867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838" name="Google Shape;838;p37"/>
          <p:cNvSpPr txBox="1">
            <a:spLocks noGrp="1"/>
          </p:cNvSpPr>
          <p:nvPr>
            <p:ph type="body" idx="6"/>
          </p:nvPr>
        </p:nvSpPr>
        <p:spPr>
          <a:xfrm>
            <a:off x="4829417" y="3775871"/>
            <a:ext cx="2996800" cy="2201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39792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1pPr>
            <a:lvl2pPr marL="1219170" lvl="1" indent="-39792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2pPr>
            <a:lvl3pPr marL="1828754" lvl="2" indent="-39792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3pPr>
            <a:lvl4pPr marL="2438339" lvl="3" indent="-39792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4pPr>
            <a:lvl5pPr marL="3047924" lvl="4" indent="-39792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5pPr>
            <a:lvl6pPr marL="3657509" lvl="5" indent="-39792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6pPr>
            <a:lvl7pPr marL="4267093" lvl="6" indent="-39792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7pPr>
            <a:lvl8pPr marL="4876678" lvl="7" indent="-39792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8pPr>
            <a:lvl9pPr marL="5486263" lvl="8" indent="-39792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grpSp>
        <p:nvGrpSpPr>
          <p:cNvPr id="839" name="Google Shape;839;p37"/>
          <p:cNvGrpSpPr/>
          <p:nvPr/>
        </p:nvGrpSpPr>
        <p:grpSpPr>
          <a:xfrm rot="-5400000">
            <a:off x="2283331" y="3670527"/>
            <a:ext cx="4423039" cy="312464"/>
            <a:chOff x="-4640549" y="265600"/>
            <a:chExt cx="5491274" cy="392675"/>
          </a:xfrm>
        </p:grpSpPr>
        <p:sp>
          <p:nvSpPr>
            <p:cNvPr id="840" name="Google Shape;840;p37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841" name="Google Shape;841;p37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842" name="Google Shape;842;p37"/>
            <p:cNvSpPr/>
            <p:nvPr/>
          </p:nvSpPr>
          <p:spPr>
            <a:xfrm rot="-5400000">
              <a:off x="-2039849" y="-2155107"/>
              <a:ext cx="32700" cy="52341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843" name="Google Shape;843;p37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sp>
        <p:nvSpPr>
          <p:cNvPr id="844" name="Google Shape;844;p37"/>
          <p:cNvSpPr>
            <a:spLocks noGrp="1"/>
          </p:cNvSpPr>
          <p:nvPr>
            <p:ph type="pic" idx="7"/>
          </p:nvPr>
        </p:nvSpPr>
        <p:spPr>
          <a:xfrm>
            <a:off x="1032700" y="1587333"/>
            <a:ext cx="2996800" cy="1509600"/>
          </a:xfrm>
          <a:prstGeom prst="rect">
            <a:avLst/>
          </a:prstGeom>
          <a:noFill/>
          <a:ln>
            <a:noFill/>
          </a:ln>
        </p:spPr>
      </p:sp>
      <p:sp>
        <p:nvSpPr>
          <p:cNvPr id="845" name="Google Shape;845;p37"/>
          <p:cNvSpPr>
            <a:spLocks noGrp="1"/>
          </p:cNvSpPr>
          <p:nvPr>
            <p:ph type="pic" idx="8"/>
          </p:nvPr>
        </p:nvSpPr>
        <p:spPr>
          <a:xfrm>
            <a:off x="4829433" y="1587333"/>
            <a:ext cx="2996800" cy="1509600"/>
          </a:xfrm>
          <a:prstGeom prst="rect">
            <a:avLst/>
          </a:prstGeom>
          <a:noFill/>
          <a:ln>
            <a:noFill/>
          </a:ln>
        </p:spPr>
      </p:sp>
      <p:sp>
        <p:nvSpPr>
          <p:cNvPr id="846" name="Google Shape;846;p37"/>
          <p:cNvSpPr>
            <a:spLocks noGrp="1"/>
          </p:cNvSpPr>
          <p:nvPr>
            <p:ph type="pic" idx="9"/>
          </p:nvPr>
        </p:nvSpPr>
        <p:spPr>
          <a:xfrm>
            <a:off x="8626167" y="1587333"/>
            <a:ext cx="2996800" cy="1509600"/>
          </a:xfrm>
          <a:prstGeom prst="rect">
            <a:avLst/>
          </a:pr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6114554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88">
          <p15:clr>
            <a:srgbClr val="E46962"/>
          </p15:clr>
        </p15:guide>
        <p15:guide id="2" pos="2282">
          <p15:clr>
            <a:srgbClr val="E46962"/>
          </p15:clr>
        </p15:guide>
        <p15:guide id="3" orient="horz" pos="1463">
          <p15:clr>
            <a:srgbClr val="E46962"/>
          </p15:clr>
        </p15:guide>
        <p15:guide id="4" pos="4075">
          <p15:clr>
            <a:srgbClr val="E46962"/>
          </p15:clr>
        </p15:guide>
        <p15:guide id="5" orient="horz" pos="156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7186508-67BC-27FF-3033-ECEB4BE0A8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C615FF-E4C0-7692-BDAD-865A30C4DD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738EE8-B4DF-3F1B-26CF-E4A9F109478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C6341E-1CBB-48DE-8CE0-A621BBE7DB28}" type="datetimeFigureOut">
              <a:rPr lang="es-ES" smtClean="0"/>
              <a:t>14/04/2025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3A5F6E-9D33-25E5-1843-E39288A81F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9D3AF8-EAE4-FA92-9ECF-DD4A205324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422D5C-81EC-487D-985B-07F6FE9B92B2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498428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3" r:id="rId1"/>
    <p:sldLayoutId id="2147483784" r:id="rId2"/>
    <p:sldLayoutId id="2147483785" r:id="rId3"/>
    <p:sldLayoutId id="2147483786" r:id="rId4"/>
    <p:sldLayoutId id="2147483787" r:id="rId5"/>
    <p:sldLayoutId id="2147483788" r:id="rId6"/>
    <p:sldLayoutId id="2147483789" r:id="rId7"/>
    <p:sldLayoutId id="2147483790" r:id="rId8"/>
    <p:sldLayoutId id="2147483791" r:id="rId9"/>
    <p:sldLayoutId id="2147483792" r:id="rId10"/>
    <p:sldLayoutId id="2147483793" r:id="rId11"/>
    <p:sldLayoutId id="2147483794" r:id="rId12"/>
    <p:sldLayoutId id="2147483795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2.jp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8.jpeg"/><Relationship Id="rId4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311876"/>
            <a:ext cx="5218495" cy="2421924"/>
          </a:xfrm>
        </p:spPr>
        <p:txBody>
          <a:bodyPr>
            <a:noAutofit/>
          </a:bodyPr>
          <a:lstStyle/>
          <a:p>
            <a:pPr algn="ctr"/>
            <a:r>
              <a:rPr lang="es" sz="6600" b="1" dirty="0">
                <a:solidFill>
                  <a:schemeClr val="accent1">
                    <a:lumMod val="50000"/>
                  </a:schemeClr>
                </a:solidFill>
              </a:rPr>
              <a:t>Predicción de la calidad del aire</a:t>
            </a:r>
            <a:br>
              <a:rPr lang="en" sz="6600" b="1" dirty="0">
                <a:solidFill>
                  <a:schemeClr val="accent1">
                    <a:lumMod val="50000"/>
                  </a:schemeClr>
                </a:solidFill>
              </a:rPr>
            </a:br>
            <a:r>
              <a:rPr lang="es" sz="6600" b="1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endParaRPr lang="es-ES" sz="66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279693"/>
            <a:ext cx="5288692" cy="1538416"/>
          </a:xfrm>
        </p:spPr>
        <p:txBody>
          <a:bodyPr>
            <a:normAutofit/>
          </a:bodyPr>
          <a:lstStyle/>
          <a:p>
            <a:pPr algn="ctr"/>
            <a:r>
              <a:rPr lang="es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Predicción del ICA en función de los niveles de contaminantes </a:t>
            </a:r>
          </a:p>
          <a:p>
            <a:pPr algn="ctr"/>
            <a:r>
              <a:rPr lang="es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(CO, O3, NO2, SO2, PM10, PM2.5)</a:t>
            </a:r>
            <a:endParaRPr lang="en-US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60CCF27C-2736-C212-AFA2-E4AAA99ACB6F}"/>
              </a:ext>
            </a:extLst>
          </p:cNvPr>
          <p:cNvSpPr txBox="1">
            <a:spLocks/>
          </p:cNvSpPr>
          <p:nvPr/>
        </p:nvSpPr>
        <p:spPr>
          <a:xfrm>
            <a:off x="41013" y="5799437"/>
            <a:ext cx="4022124" cy="7784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" sz="1600" dirty="0"/>
              <a:t>Arman </a:t>
            </a:r>
            <a:r>
              <a:rPr lang="es" sz="1600" dirty="0" err="1"/>
              <a:t>Ghaziaskari </a:t>
            </a:r>
            <a:r>
              <a:rPr lang="es" sz="1600" dirty="0"/>
              <a:t>Naeini</a:t>
            </a:r>
          </a:p>
          <a:p>
            <a:pPr algn="l"/>
            <a:r>
              <a:rPr lang="es" sz="1600" dirty="0"/>
              <a:t>Diciembre de 2024</a:t>
            </a:r>
          </a:p>
        </p:txBody>
      </p:sp>
      <p:sp>
        <p:nvSpPr>
          <p:cNvPr id="10" name="AutoShape 2" descr="DALL·E 2024-11-08 18.35.44 - Create a professional, visually engaging infographic that showcases global university rankings from 2014 to 2024, focusing on key metrics_ world rank,.webp (1792×1024)">
            <a:extLst>
              <a:ext uri="{FF2B5EF4-FFF2-40B4-BE49-F238E27FC236}">
                <a16:creationId xmlns:a16="http://schemas.microsoft.com/office/drawing/2014/main" id="{53ADB075-9F07-F897-41DD-E0FD23BA9CD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sp>
        <p:nvSpPr>
          <p:cNvPr id="11" name="AutoShape 4" descr="DALL·E 2024-11-08 18.35.44 - Create a professional, visually engaging infographic that showcases global university rankings from 2014 to 2024, focusing on key metrics_ world rank,.webp (1792×1024)">
            <a:extLst>
              <a:ext uri="{FF2B5EF4-FFF2-40B4-BE49-F238E27FC236}">
                <a16:creationId xmlns:a16="http://schemas.microsoft.com/office/drawing/2014/main" id="{B9B89A76-6E2F-CAD1-63D1-A5B0A9B10F4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68029F5-09A3-D43C-DC55-D4D42AADB8B1}"/>
              </a:ext>
            </a:extLst>
          </p:cNvPr>
          <p:cNvSpPr txBox="1"/>
          <p:nvPr/>
        </p:nvSpPr>
        <p:spPr>
          <a:xfrm>
            <a:off x="2990335" y="4057820"/>
            <a:ext cx="61783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" dirty="0"/>
              <a:t> 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D1A970D0-E6E5-3CAD-8EA1-573B0ACB6D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8495" y="3276600"/>
            <a:ext cx="6973505" cy="35814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58BD559C-2CCE-B171-5884-1E637B43A3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8495" y="10318"/>
            <a:ext cx="6982627" cy="684077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1" name="Google Shape;1131;p51"/>
          <p:cNvSpPr txBox="1">
            <a:spLocks noGrp="1"/>
          </p:cNvSpPr>
          <p:nvPr>
            <p:ph type="title"/>
          </p:nvPr>
        </p:nvSpPr>
        <p:spPr>
          <a:xfrm>
            <a:off x="5909187" y="54487"/>
            <a:ext cx="5556800" cy="610800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r>
              <a:rPr lang="es" b="1" dirty="0"/>
              <a:t>¿Qué es la calidad del aire?</a:t>
            </a:r>
            <a:endParaRPr b="1" dirty="0"/>
          </a:p>
        </p:txBody>
      </p:sp>
      <p:pic>
        <p:nvPicPr>
          <p:cNvPr id="1132" name="Google Shape;1132;p51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12208" r="12200"/>
          <a:stretch/>
        </p:blipFill>
        <p:spPr>
          <a:xfrm>
            <a:off x="375767" y="356733"/>
            <a:ext cx="4635200" cy="6132000"/>
          </a:xfrm>
          <a:prstGeom prst="snip1Rect">
            <a:avLst>
              <a:gd name="adj" fmla="val 16667"/>
            </a:avLst>
          </a:prstGeom>
        </p:spPr>
      </p:pic>
      <p:sp>
        <p:nvSpPr>
          <p:cNvPr id="1133" name="Google Shape;1133;p51"/>
          <p:cNvSpPr txBox="1">
            <a:spLocks noGrp="1"/>
          </p:cNvSpPr>
          <p:nvPr>
            <p:ph type="body" idx="1"/>
          </p:nvPr>
        </p:nvSpPr>
        <p:spPr>
          <a:xfrm>
            <a:off x="5760720" y="665287"/>
            <a:ext cx="6431281" cy="5564213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r>
              <a:rPr lang="es" sz="2400" b="1" dirty="0" err="1"/>
              <a:t>Calidad </a:t>
            </a:r>
            <a:r>
              <a:rPr lang="es" sz="2400" b="1" dirty="0"/>
              <a:t>del aire </a:t>
            </a:r>
            <a:r>
              <a:rPr lang="es" sz="2400" b="1" dirty="0" err="1"/>
              <a:t>es </a:t>
            </a:r>
            <a:r>
              <a:rPr lang="es" sz="2400" b="1" dirty="0"/>
              <a:t>crucial </a:t>
            </a:r>
            <a:r>
              <a:rPr lang="es" sz="2400" b="1" dirty="0" err="1"/>
              <a:t>para</a:t>
            </a:r>
            <a:r>
              <a:rPr lang="es" sz="2400" b="1" dirty="0"/>
              <a:t> </a:t>
            </a:r>
            <a:r>
              <a:rPr lang="es" sz="2400" b="1" dirty="0" err="1"/>
              <a:t>público</a:t>
            </a:r>
            <a:r>
              <a:rPr lang="es" sz="2400" b="1" dirty="0"/>
              <a:t> </a:t>
            </a:r>
            <a:r>
              <a:rPr lang="es" sz="2400" b="1" dirty="0" err="1"/>
              <a:t>salud</a:t>
            </a:r>
            <a:endParaRPr lang="es-ES" sz="2400" b="1" dirty="0"/>
          </a:p>
          <a:p>
            <a:endParaRPr lang="es" sz="2400" b="1" dirty="0"/>
          </a:p>
          <a:p>
            <a:r>
              <a:rPr lang="es" sz="2400" b="1" dirty="0"/>
              <a:t>AQI(ICA) (Índice Calidad del aire): </a:t>
            </a:r>
            <a:br>
              <a:rPr lang="es-ES" sz="2400" dirty="0"/>
            </a:br>
            <a:r>
              <a:rPr lang="es" sz="2400" dirty="0"/>
              <a:t>Un </a:t>
            </a:r>
            <a:r>
              <a:rPr lang="es" sz="2400" dirty="0" err="1"/>
              <a:t>común</a:t>
            </a:r>
            <a:r>
              <a:rPr lang="es" sz="2400" dirty="0"/>
              <a:t> </a:t>
            </a:r>
            <a:r>
              <a:rPr lang="es" sz="2400" dirty="0" err="1"/>
              <a:t>medida</a:t>
            </a:r>
            <a:r>
              <a:rPr lang="es" sz="2400" dirty="0"/>
              <a:t> </a:t>
            </a:r>
            <a:r>
              <a:rPr lang="es" sz="2400" dirty="0" err="1"/>
              <a:t>usado</a:t>
            </a:r>
            <a:r>
              <a:rPr lang="es" sz="2400" dirty="0"/>
              <a:t> </a:t>
            </a:r>
            <a:r>
              <a:rPr lang="es" sz="2400" dirty="0" err="1"/>
              <a:t>a</a:t>
            </a:r>
            <a:r>
              <a:rPr lang="es" sz="2400" dirty="0"/>
              <a:t> </a:t>
            </a:r>
            <a:r>
              <a:rPr lang="es" sz="2400" dirty="0" err="1"/>
              <a:t>indicar contaminación </a:t>
            </a:r>
            <a:r>
              <a:rPr lang="es" sz="2400" dirty="0"/>
              <a:t>del aire </a:t>
            </a:r>
            <a:r>
              <a:rPr lang="es" sz="2400" dirty="0" err="1"/>
              <a:t>niveles </a:t>
            </a:r>
            <a:r>
              <a:rPr lang="es" sz="2400" dirty="0"/>
              <a:t>.</a:t>
            </a:r>
          </a:p>
          <a:p>
            <a:r>
              <a:rPr lang="es" sz="2400" b="1" dirty="0" err="1"/>
              <a:t>Contaminantes </a:t>
            </a:r>
            <a:r>
              <a:rPr lang="es" sz="2400" b="1" dirty="0"/>
              <a:t>clave : </a:t>
            </a:r>
            <a:br>
              <a:rPr lang="es-ES" sz="2400" dirty="0"/>
            </a:br>
            <a:r>
              <a:rPr lang="es" sz="2400" dirty="0" err="1"/>
              <a:t>Los</a:t>
            </a:r>
            <a:r>
              <a:rPr lang="es" sz="2400" dirty="0"/>
              <a:t> </a:t>
            </a:r>
            <a:r>
              <a:rPr lang="es" sz="2400" dirty="0" err="1"/>
              <a:t>primario</a:t>
            </a:r>
            <a:r>
              <a:rPr lang="es" sz="2400" dirty="0"/>
              <a:t> </a:t>
            </a:r>
            <a:r>
              <a:rPr lang="es" sz="2400" dirty="0" err="1"/>
              <a:t>contaminantes</a:t>
            </a:r>
            <a:r>
              <a:rPr lang="es" sz="2400" dirty="0"/>
              <a:t> </a:t>
            </a:r>
            <a:r>
              <a:rPr lang="es" sz="2400" dirty="0" err="1"/>
              <a:t>afectando la calidad </a:t>
            </a:r>
            <a:r>
              <a:rPr lang="es" sz="2400" dirty="0"/>
              <a:t>del aire </a:t>
            </a:r>
            <a:r>
              <a:rPr lang="es" sz="2400" dirty="0" err="1"/>
              <a:t>incluir </a:t>
            </a:r>
            <a:r>
              <a:rPr lang="es" sz="2400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" sz="2400" b="1" dirty="0"/>
              <a:t>CO </a:t>
            </a:r>
            <a:r>
              <a:rPr lang="es" sz="2400" dirty="0"/>
              <a:t>( </a:t>
            </a:r>
            <a:r>
              <a:rPr lang="es" sz="2400" dirty="0" err="1"/>
              <a:t>Carbono</a:t>
            </a:r>
            <a:r>
              <a:rPr lang="es" sz="2400" dirty="0"/>
              <a:t> </a:t>
            </a:r>
            <a:r>
              <a:rPr lang="es" sz="2400" dirty="0" err="1"/>
              <a:t>Monóxido </a:t>
            </a:r>
            <a:r>
              <a:rPr lang="es" sz="2400" dirty="0"/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" sz="2400" b="1" dirty="0"/>
              <a:t>O₃ </a:t>
            </a:r>
            <a:r>
              <a:rPr lang="es" sz="2400" dirty="0"/>
              <a:t>(Ozono)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" sz="2400" b="1" dirty="0"/>
              <a:t>NO₂ </a:t>
            </a:r>
            <a:r>
              <a:rPr lang="es" sz="2400" dirty="0"/>
              <a:t>( </a:t>
            </a:r>
            <a:r>
              <a:rPr lang="es" sz="2400" dirty="0" err="1"/>
              <a:t>Nitrógeno</a:t>
            </a:r>
            <a:r>
              <a:rPr lang="es" sz="2400" dirty="0"/>
              <a:t> </a:t>
            </a:r>
            <a:r>
              <a:rPr lang="es" sz="2400" dirty="0" err="1"/>
              <a:t>Dióxido </a:t>
            </a:r>
            <a:r>
              <a:rPr lang="es" sz="2400" dirty="0"/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" sz="2400" b="1" dirty="0"/>
              <a:t>SO₂ </a:t>
            </a:r>
            <a:r>
              <a:rPr lang="es-ES" sz="2400" dirty="0"/>
              <a:t>(dióxido de azufre)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" sz="2400" b="1" dirty="0"/>
              <a:t>PM10 </a:t>
            </a:r>
            <a:r>
              <a:rPr lang="es" sz="2400" dirty="0"/>
              <a:t>( partículas Materia 10)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" sz="2400" b="1" dirty="0"/>
              <a:t>PM2.5 </a:t>
            </a:r>
            <a:r>
              <a:rPr lang="es" sz="2400" dirty="0"/>
              <a:t>( partículas Materia 2.5)</a:t>
            </a:r>
          </a:p>
          <a:p>
            <a:pPr>
              <a:buFont typeface="Arial" panose="020B0604020202020204" pitchFamily="34" charset="0"/>
              <a:buChar char="•"/>
            </a:pPr>
            <a:endParaRPr lang="es-ES" sz="2400" dirty="0"/>
          </a:p>
          <a:p>
            <a:r>
              <a:rPr lang="es" sz="2400" dirty="0" err="1"/>
              <a:t>Entendiendo la calidad </a:t>
            </a:r>
            <a:r>
              <a:rPr lang="es" sz="2400" dirty="0"/>
              <a:t>del aire </a:t>
            </a:r>
            <a:r>
              <a:rPr lang="es" sz="2400" dirty="0" err="1"/>
              <a:t>es</a:t>
            </a:r>
            <a:r>
              <a:rPr lang="es" sz="2400" dirty="0"/>
              <a:t> </a:t>
            </a:r>
            <a:r>
              <a:rPr lang="es" sz="2400" dirty="0" err="1"/>
              <a:t>básico</a:t>
            </a:r>
            <a:r>
              <a:rPr lang="es" sz="2400" dirty="0"/>
              <a:t> </a:t>
            </a:r>
            <a:r>
              <a:rPr lang="es" sz="2400" dirty="0" err="1"/>
              <a:t>para</a:t>
            </a:r>
            <a:r>
              <a:rPr lang="es" sz="2400" dirty="0"/>
              <a:t> </a:t>
            </a:r>
            <a:r>
              <a:rPr lang="es" sz="2400" dirty="0" err="1"/>
              <a:t>desarrollo</a:t>
            </a:r>
            <a:r>
              <a:rPr lang="es" sz="2400" dirty="0"/>
              <a:t> </a:t>
            </a:r>
            <a:r>
              <a:rPr lang="es" sz="2400" dirty="0" err="1"/>
              <a:t>eficaz</a:t>
            </a:r>
            <a:r>
              <a:rPr lang="es" sz="2400" dirty="0"/>
              <a:t> </a:t>
            </a:r>
            <a:r>
              <a:rPr lang="es" sz="2400" dirty="0" err="1"/>
              <a:t>contaminación</a:t>
            </a:r>
            <a:r>
              <a:rPr lang="es" sz="2400" dirty="0"/>
              <a:t> </a:t>
            </a:r>
            <a:r>
              <a:rPr lang="es" sz="2400" dirty="0" err="1"/>
              <a:t>gestión</a:t>
            </a:r>
            <a:r>
              <a:rPr lang="es" sz="2400" dirty="0"/>
              <a:t> </a:t>
            </a:r>
            <a:r>
              <a:rPr lang="es" sz="2400" dirty="0" err="1"/>
              <a:t>estrategias </a:t>
            </a:r>
            <a:r>
              <a:rPr lang="es" sz="2400" dirty="0"/>
              <a:t>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F857AA2-DDBE-56E5-AF5B-59F32F118D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45275" y="-118427"/>
            <a:ext cx="5905995" cy="708310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7">
          <a:extLst>
            <a:ext uri="{FF2B5EF4-FFF2-40B4-BE49-F238E27FC236}">
              <a16:creationId xmlns:a16="http://schemas.microsoft.com/office/drawing/2014/main" id="{EF91866C-7A68-68AD-A167-88BD75A4CE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8" name="Google Shape;1138;p52">
            <a:extLst>
              <a:ext uri="{FF2B5EF4-FFF2-40B4-BE49-F238E27FC236}">
                <a16:creationId xmlns:a16="http://schemas.microsoft.com/office/drawing/2014/main" id="{4D79E136-155E-07F4-8F10-5BE513893C5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44400" y="167081"/>
            <a:ext cx="11425394" cy="742000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r>
              <a:rPr lang="es" dirty="0">
                <a:solidFill>
                  <a:schemeClr val="tx1"/>
                </a:solidFill>
              </a:rPr>
              <a:t>Características clave que afectan la calidad del aire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139" name="Google Shape;1139;p52">
            <a:extLst>
              <a:ext uri="{FF2B5EF4-FFF2-40B4-BE49-F238E27FC236}">
                <a16:creationId xmlns:a16="http://schemas.microsoft.com/office/drawing/2014/main" id="{D9BA1F8E-9E4D-094F-2F06-D7EA75983DC2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032700" y="3317967"/>
            <a:ext cx="2996800" cy="241600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pPr marL="0" indent="0">
              <a:spcAft>
                <a:spcPts val="1600"/>
              </a:spcAft>
            </a:pPr>
            <a:r>
              <a:rPr lang="es" sz="2400" dirty="0">
                <a:solidFill>
                  <a:schemeClr val="accent1"/>
                </a:solidFill>
              </a:rPr>
              <a:t>SO2 </a:t>
            </a:r>
            <a:r>
              <a:rPr lang="es-ES" sz="2400" dirty="0">
                <a:solidFill>
                  <a:schemeClr val="accent1"/>
                </a:solidFill>
              </a:rPr>
              <a:t>(dióxido de azufre)</a:t>
            </a:r>
            <a:endParaRPr sz="2400" dirty="0">
              <a:solidFill>
                <a:schemeClr val="accent1"/>
              </a:solidFill>
            </a:endParaRPr>
          </a:p>
        </p:txBody>
      </p:sp>
      <p:sp>
        <p:nvSpPr>
          <p:cNvPr id="1140" name="Google Shape;1140;p52">
            <a:extLst>
              <a:ext uri="{FF2B5EF4-FFF2-40B4-BE49-F238E27FC236}">
                <a16:creationId xmlns:a16="http://schemas.microsoft.com/office/drawing/2014/main" id="{372A658D-6772-2C0D-91B9-4382FD1A5F1F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1032700" y="3775871"/>
            <a:ext cx="2996800" cy="2201600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pPr marL="0" indent="0">
              <a:spcAft>
                <a:spcPts val="1600"/>
              </a:spcAft>
              <a:buNone/>
            </a:pPr>
            <a:r>
              <a:rPr lang="es" sz="2400" dirty="0">
                <a:solidFill>
                  <a:schemeClr val="tx1"/>
                </a:solidFill>
              </a:rPr>
              <a:t>de gas volcánico o </a:t>
            </a:r>
            <a:r>
              <a:rPr lang="es" sz="2400" dirty="0" err="1">
                <a:solidFill>
                  <a:schemeClr val="tx1"/>
                </a:solidFill>
              </a:rPr>
              <a:t>sulfúrico </a:t>
            </a:r>
            <a:r>
              <a:rPr lang="es" sz="2400" dirty="0">
                <a:solidFill>
                  <a:schemeClr val="tx1"/>
                </a:solidFill>
              </a:rPr>
              <a:t>en combustibles fósiles</a:t>
            </a:r>
            <a:endParaRPr sz="2400" dirty="0">
              <a:solidFill>
                <a:schemeClr val="tx1"/>
              </a:solidFill>
            </a:endParaRPr>
          </a:p>
        </p:txBody>
      </p:sp>
      <p:sp>
        <p:nvSpPr>
          <p:cNvPr id="1141" name="Google Shape;1141;p52">
            <a:extLst>
              <a:ext uri="{FF2B5EF4-FFF2-40B4-BE49-F238E27FC236}">
                <a16:creationId xmlns:a16="http://schemas.microsoft.com/office/drawing/2014/main" id="{723F53E1-64E7-9360-523E-568799F115B5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8626132" y="3318739"/>
            <a:ext cx="3443662" cy="331812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pPr marL="0" indent="0">
              <a:spcAft>
                <a:spcPts val="1600"/>
              </a:spcAft>
            </a:pPr>
            <a:r>
              <a:rPr lang="es" sz="2000" dirty="0">
                <a:solidFill>
                  <a:schemeClr val="accent1"/>
                </a:solidFill>
              </a:rPr>
              <a:t>PM2.5 ( partículas Materia 2.5):</a:t>
            </a:r>
            <a:endParaRPr sz="2000" dirty="0">
              <a:solidFill>
                <a:schemeClr val="accent1"/>
              </a:solidFill>
            </a:endParaRPr>
          </a:p>
        </p:txBody>
      </p:sp>
      <p:sp>
        <p:nvSpPr>
          <p:cNvPr id="1142" name="Google Shape;1142;p52">
            <a:extLst>
              <a:ext uri="{FF2B5EF4-FFF2-40B4-BE49-F238E27FC236}">
                <a16:creationId xmlns:a16="http://schemas.microsoft.com/office/drawing/2014/main" id="{5FD6B455-90F9-8421-FCC5-FC43A1B6B7EB}"/>
              </a:ext>
            </a:extLst>
          </p:cNvPr>
          <p:cNvSpPr txBox="1">
            <a:spLocks noGrp="1"/>
          </p:cNvSpPr>
          <p:nvPr>
            <p:ph type="body" idx="4"/>
          </p:nvPr>
        </p:nvSpPr>
        <p:spPr>
          <a:xfrm>
            <a:off x="8574926" y="3958564"/>
            <a:ext cx="3494986" cy="2201600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pPr marL="0" indent="0">
              <a:spcAft>
                <a:spcPts val="1600"/>
              </a:spcAft>
              <a:buNone/>
            </a:pPr>
            <a:r>
              <a:rPr lang="es" sz="2400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Industria y combustible para calefacción, obra, transfronterizo, </a:t>
            </a:r>
            <a:r>
              <a:rPr lang="es" sz="2400" b="0" i="0" dirty="0">
                <a:solidFill>
                  <a:schemeClr val="tx1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industria , quema a cielo abierto o tráfico</a:t>
            </a:r>
            <a:endParaRPr sz="2400" dirty="0">
              <a:solidFill>
                <a:schemeClr val="tx1"/>
              </a:solidFill>
            </a:endParaRPr>
          </a:p>
        </p:txBody>
      </p:sp>
      <p:sp>
        <p:nvSpPr>
          <p:cNvPr id="1143" name="Google Shape;1143;p52">
            <a:extLst>
              <a:ext uri="{FF2B5EF4-FFF2-40B4-BE49-F238E27FC236}">
                <a16:creationId xmlns:a16="http://schemas.microsoft.com/office/drawing/2014/main" id="{FB66943C-BB7E-59AA-D35B-57043C345FF3}"/>
              </a:ext>
            </a:extLst>
          </p:cNvPr>
          <p:cNvSpPr txBox="1">
            <a:spLocks noGrp="1"/>
          </p:cNvSpPr>
          <p:nvPr>
            <p:ph type="subTitle" idx="5"/>
          </p:nvPr>
        </p:nvSpPr>
        <p:spPr>
          <a:xfrm>
            <a:off x="4829417" y="3317967"/>
            <a:ext cx="2996800" cy="241600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pPr marL="0" indent="0">
              <a:spcAft>
                <a:spcPts val="1600"/>
              </a:spcAft>
            </a:pPr>
            <a:r>
              <a:rPr lang="es" sz="1800" dirty="0">
                <a:solidFill>
                  <a:schemeClr val="accent1"/>
                </a:solidFill>
              </a:rPr>
              <a:t>PM10 ( partículas Materia 10):</a:t>
            </a:r>
            <a:endParaRPr sz="1800" dirty="0">
              <a:solidFill>
                <a:schemeClr val="accent1"/>
              </a:solidFill>
            </a:endParaRPr>
          </a:p>
        </p:txBody>
      </p:sp>
      <p:sp>
        <p:nvSpPr>
          <p:cNvPr id="1144" name="Google Shape;1144;p52">
            <a:extLst>
              <a:ext uri="{FF2B5EF4-FFF2-40B4-BE49-F238E27FC236}">
                <a16:creationId xmlns:a16="http://schemas.microsoft.com/office/drawing/2014/main" id="{7BD65CCA-F5C4-C10E-DA50-FFAADC6C43F2}"/>
              </a:ext>
            </a:extLst>
          </p:cNvPr>
          <p:cNvSpPr txBox="1">
            <a:spLocks noGrp="1"/>
          </p:cNvSpPr>
          <p:nvPr>
            <p:ph type="body" idx="6"/>
          </p:nvPr>
        </p:nvSpPr>
        <p:spPr>
          <a:xfrm>
            <a:off x="4829417" y="3775871"/>
            <a:ext cx="2996800" cy="2201600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pPr marL="0" indent="0">
              <a:spcAft>
                <a:spcPts val="1600"/>
              </a:spcAft>
              <a:buNone/>
            </a:pPr>
            <a:r>
              <a:rPr lang="es" sz="2400" dirty="0">
                <a:solidFill>
                  <a:schemeClr val="tx1"/>
                </a:solidFill>
              </a:rPr>
              <a:t>Las partículas pueden penetrar en los pulmones producidas por el polvo, </a:t>
            </a:r>
            <a:r>
              <a:rPr lang="es" sz="2400" b="0" i="0" dirty="0">
                <a:solidFill>
                  <a:srgbClr val="040C28"/>
                </a:solidFill>
                <a:effectLst/>
                <a:latin typeface="Google Sans"/>
              </a:rPr>
              <a:t>los incendios forestales y la quema de matorrales o residuos de fuentes industriales </a:t>
            </a:r>
            <a:r>
              <a:rPr lang="es" sz="2400" dirty="0">
                <a:solidFill>
                  <a:schemeClr val="tx1"/>
                </a:solidFill>
              </a:rPr>
              <a:t>.</a:t>
            </a:r>
            <a:endParaRPr sz="2400" dirty="0">
              <a:solidFill>
                <a:schemeClr val="tx1"/>
              </a:solidFill>
            </a:endParaRP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00D38ED-324D-E007-0FDD-4ACCE12ABEB2}"/>
              </a:ext>
            </a:extLst>
          </p:cNvPr>
          <p:cNvSpPr>
            <a:spLocks noGrp="1"/>
          </p:cNvSpPr>
          <p:nvPr>
            <p:ph type="pic" idx="7"/>
          </p:nvPr>
        </p:nvSpPr>
        <p:spPr/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C7D7390-8778-374D-CBF2-31323A1C7A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2700" y="1540342"/>
            <a:ext cx="3048425" cy="1667108"/>
          </a:xfrm>
          <a:prstGeom prst="rect">
            <a:avLst/>
          </a:prstGeom>
        </p:spPr>
      </p:pic>
      <p:pic>
        <p:nvPicPr>
          <p:cNvPr id="13" name="Picture Placeholder 12">
            <a:extLst>
              <a:ext uri="{FF2B5EF4-FFF2-40B4-BE49-F238E27FC236}">
                <a16:creationId xmlns:a16="http://schemas.microsoft.com/office/drawing/2014/main" id="{E6604B4C-78B2-0089-499E-76F2A99986BB}"/>
              </a:ext>
            </a:extLst>
          </p:cNvPr>
          <p:cNvPicPr>
            <a:picLocks noGrp="1" noChangeAspect="1"/>
          </p:cNvPicPr>
          <p:nvPr>
            <p:ph type="pic" idx="8"/>
          </p:nvPr>
        </p:nvPicPr>
        <p:blipFill>
          <a:blip r:embed="rId4"/>
          <a:srcRect t="16615" b="16615"/>
          <a:stretch/>
        </p:blipFill>
        <p:spPr/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3A906B3-D787-3452-95D6-79ABECC6116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4926" y="1575959"/>
            <a:ext cx="3048041" cy="153234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B20C7C9-32C0-4F45-2B94-C22F0176F0F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29417" y="1422612"/>
            <a:ext cx="3048425" cy="1729948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0A8B1693-4E37-7D3A-C033-F20BF22EA30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57848" y="1477502"/>
            <a:ext cx="3494986" cy="1729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32674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8" name="Google Shape;1138;p52"/>
          <p:cNvSpPr txBox="1">
            <a:spLocks noGrp="1"/>
          </p:cNvSpPr>
          <p:nvPr>
            <p:ph type="title"/>
          </p:nvPr>
        </p:nvSpPr>
        <p:spPr>
          <a:xfrm>
            <a:off x="644400" y="461533"/>
            <a:ext cx="10903200" cy="742000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r>
              <a:rPr lang="es" dirty="0">
                <a:solidFill>
                  <a:schemeClr val="tx1"/>
                </a:solidFill>
              </a:rPr>
              <a:t>Características clave que afectan la calidad del aire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139" name="Google Shape;1139;p52"/>
          <p:cNvSpPr txBox="1">
            <a:spLocks noGrp="1"/>
          </p:cNvSpPr>
          <p:nvPr>
            <p:ph type="subTitle" idx="1"/>
          </p:nvPr>
        </p:nvSpPr>
        <p:spPr>
          <a:xfrm>
            <a:off x="905716" y="3316085"/>
            <a:ext cx="3422584" cy="443101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pPr marL="0" indent="0">
              <a:spcAft>
                <a:spcPts val="1600"/>
              </a:spcAft>
            </a:pPr>
            <a:r>
              <a:rPr lang="es" sz="2400" dirty="0">
                <a:solidFill>
                  <a:schemeClr val="accent1"/>
                </a:solidFill>
              </a:rPr>
              <a:t>Dióxido de nitrógeno (NO2)</a:t>
            </a:r>
            <a:endParaRPr sz="2400" dirty="0">
              <a:solidFill>
                <a:schemeClr val="accent1"/>
              </a:solidFill>
            </a:endParaRPr>
          </a:p>
        </p:txBody>
      </p:sp>
      <p:sp>
        <p:nvSpPr>
          <p:cNvPr id="1140" name="Google Shape;1140;p52"/>
          <p:cNvSpPr txBox="1">
            <a:spLocks noGrp="1"/>
          </p:cNvSpPr>
          <p:nvPr>
            <p:ph type="body" idx="2"/>
          </p:nvPr>
        </p:nvSpPr>
        <p:spPr>
          <a:xfrm>
            <a:off x="905716" y="3753680"/>
            <a:ext cx="3295600" cy="2411569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pPr marL="0" indent="0">
              <a:spcAft>
                <a:spcPts val="1600"/>
              </a:spcAft>
              <a:buNone/>
            </a:pPr>
            <a:r>
              <a:rPr lang="es" sz="2400" b="0" i="0" dirty="0">
                <a:solidFill>
                  <a:schemeClr val="tx1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Se forma durante la combustión del nitruro. El nitruro es el producto de la reacción fotoquímica del óxido de nitrógeno.</a:t>
            </a:r>
            <a:endParaRPr sz="2400" dirty="0">
              <a:solidFill>
                <a:schemeClr val="tx1"/>
              </a:solidFill>
            </a:endParaRPr>
          </a:p>
        </p:txBody>
      </p:sp>
      <p:sp>
        <p:nvSpPr>
          <p:cNvPr id="1141" name="Google Shape;1141;p52"/>
          <p:cNvSpPr txBox="1">
            <a:spLocks noGrp="1"/>
          </p:cNvSpPr>
          <p:nvPr>
            <p:ph type="subTitle" idx="3"/>
          </p:nvPr>
        </p:nvSpPr>
        <p:spPr>
          <a:xfrm>
            <a:off x="8626133" y="3318739"/>
            <a:ext cx="3422584" cy="305910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pPr marL="0" indent="0">
              <a:spcAft>
                <a:spcPts val="1600"/>
              </a:spcAft>
            </a:pPr>
            <a:r>
              <a:rPr lang="es" sz="2400" dirty="0">
                <a:solidFill>
                  <a:schemeClr val="accent1"/>
                </a:solidFill>
              </a:rPr>
              <a:t>Monóxido de carbono (CO)</a:t>
            </a:r>
            <a:endParaRPr sz="2400" dirty="0">
              <a:solidFill>
                <a:schemeClr val="accent1"/>
              </a:solidFill>
            </a:endParaRPr>
          </a:p>
        </p:txBody>
      </p:sp>
      <p:sp>
        <p:nvSpPr>
          <p:cNvPr id="1142" name="Google Shape;1142;p52"/>
          <p:cNvSpPr txBox="1">
            <a:spLocks noGrp="1"/>
          </p:cNvSpPr>
          <p:nvPr>
            <p:ph type="body" idx="4"/>
          </p:nvPr>
        </p:nvSpPr>
        <p:spPr>
          <a:xfrm>
            <a:off x="8626133" y="3559567"/>
            <a:ext cx="3445904" cy="3237057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pPr marL="211662" indent="0" algn="l" fontAlgn="base">
              <a:lnSpc>
                <a:spcPts val="2250"/>
              </a:lnSpc>
              <a:spcBef>
                <a:spcPts val="2625"/>
              </a:spcBef>
              <a:spcAft>
                <a:spcPts val="2625"/>
              </a:spcAft>
              <a:buNone/>
            </a:pPr>
            <a:r>
              <a:rPr lang="es" sz="2400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Incendio forestal, nitruración de metano, actividad biológica o combustión incompleta </a:t>
            </a:r>
            <a:r>
              <a:rPr lang="es" sz="2400" b="0" i="0" dirty="0">
                <a:solidFill>
                  <a:schemeClr val="tx1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del combustible.</a:t>
            </a:r>
          </a:p>
          <a:p>
            <a:br>
              <a:rPr lang="en-US" sz="2400" dirty="0">
                <a:solidFill>
                  <a:schemeClr val="tx1"/>
                </a:solidFill>
              </a:rPr>
            </a:br>
            <a:endParaRPr sz="2400" dirty="0">
              <a:solidFill>
                <a:schemeClr val="tx1"/>
              </a:solidFill>
            </a:endParaRPr>
          </a:p>
        </p:txBody>
      </p:sp>
      <p:sp>
        <p:nvSpPr>
          <p:cNvPr id="1143" name="Google Shape;1143;p52"/>
          <p:cNvSpPr txBox="1">
            <a:spLocks noGrp="1"/>
          </p:cNvSpPr>
          <p:nvPr>
            <p:ph type="subTitle" idx="5"/>
          </p:nvPr>
        </p:nvSpPr>
        <p:spPr>
          <a:xfrm>
            <a:off x="4829417" y="3317967"/>
            <a:ext cx="2996800" cy="241600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pPr marL="0" indent="0">
              <a:spcAft>
                <a:spcPts val="1600"/>
              </a:spcAft>
            </a:pPr>
            <a:r>
              <a:rPr lang="es" sz="2400" dirty="0">
                <a:solidFill>
                  <a:schemeClr val="accent1"/>
                </a:solidFill>
              </a:rPr>
              <a:t>Ozono (O3)</a:t>
            </a:r>
            <a:endParaRPr sz="2400" dirty="0">
              <a:solidFill>
                <a:schemeClr val="accent1"/>
              </a:solidFill>
            </a:endParaRPr>
          </a:p>
        </p:txBody>
      </p:sp>
      <p:sp>
        <p:nvSpPr>
          <p:cNvPr id="1144" name="Google Shape;1144;p52"/>
          <p:cNvSpPr txBox="1">
            <a:spLocks noGrp="1"/>
          </p:cNvSpPr>
          <p:nvPr>
            <p:ph type="body" idx="6"/>
          </p:nvPr>
        </p:nvSpPr>
        <p:spPr>
          <a:xfrm>
            <a:off x="4829417" y="3689843"/>
            <a:ext cx="3445904" cy="2201600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pPr marL="0" indent="0">
              <a:spcAft>
                <a:spcPts val="1600"/>
              </a:spcAft>
              <a:buNone/>
            </a:pPr>
            <a:r>
              <a:rPr lang="es" sz="2400" b="0" i="0" dirty="0">
                <a:solidFill>
                  <a:schemeClr val="tx1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Contaminantes secundarios procedentes de óxido de nitrógeno, hidrocarburos reactivos o reacción fotoquímica </a:t>
            </a:r>
            <a:r>
              <a:rPr lang="es" sz="2400" dirty="0">
                <a:solidFill>
                  <a:schemeClr val="tx1"/>
                </a:solidFill>
              </a:rPr>
              <a:t>.</a:t>
            </a:r>
            <a:endParaRPr sz="2400" dirty="0">
              <a:solidFill>
                <a:schemeClr val="tx1"/>
              </a:solidFill>
            </a:endParaRPr>
          </a:p>
        </p:txBody>
      </p:sp>
      <p:pic>
        <p:nvPicPr>
          <p:cNvPr id="1145" name="Google Shape;1145;p52"/>
          <p:cNvPicPr preferRelativeResize="0">
            <a:picLocks noGrp="1"/>
          </p:cNvPicPr>
          <p:nvPr>
            <p:ph type="pic" idx="7"/>
          </p:nvPr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98565" y="1587333"/>
            <a:ext cx="2265071" cy="1509600"/>
          </a:xfrm>
          <a:prstGeom prst="rect">
            <a:avLst/>
          </a:prstGeom>
        </p:spPr>
      </p:pic>
      <p:pic>
        <p:nvPicPr>
          <p:cNvPr id="1146" name="Google Shape;1146;p52"/>
          <p:cNvPicPr preferRelativeResize="0">
            <a:picLocks noGrp="1"/>
          </p:cNvPicPr>
          <p:nvPr>
            <p:ph type="pic" idx="8"/>
          </p:nvPr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29421" y="1587333"/>
            <a:ext cx="1996825" cy="1509600"/>
          </a:xfrm>
          <a:prstGeom prst="rect">
            <a:avLst/>
          </a:prstGeom>
        </p:spPr>
      </p:pic>
      <p:pic>
        <p:nvPicPr>
          <p:cNvPr id="1147" name="Google Shape;1147;p52"/>
          <p:cNvPicPr preferRelativeResize="0">
            <a:picLocks noGrp="1"/>
          </p:cNvPicPr>
          <p:nvPr>
            <p:ph type="pic" idx="9"/>
          </p:nvPr>
        </p:nvPicPr>
        <p:blipFill>
          <a:blip r:embed="rId5">
            <a:alphaModFix/>
          </a:blip>
          <a:stretch>
            <a:fillRect/>
          </a:stretch>
        </p:blipFill>
        <p:spPr>
          <a:xfrm>
            <a:off x="9369767" y="1587334"/>
            <a:ext cx="1509597" cy="150959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3908" y="172994"/>
            <a:ext cx="10396882" cy="1151965"/>
          </a:xfrm>
        </p:spPr>
        <p:txBody>
          <a:bodyPr spcFirstLastPara="1" vert="horz" wrap="square" lIns="0" tIns="0" rIns="0" bIns="0" rtlCol="0" anchor="t" anchorCtr="0">
            <a:normAutofit/>
          </a:bodyPr>
          <a:lstStyle/>
          <a:p>
            <a:pPr>
              <a:spcBef>
                <a:spcPts val="0"/>
              </a:spcBef>
              <a:buClr>
                <a:schemeClr val="accent4"/>
              </a:buClr>
              <a:buSzPts val="2000"/>
            </a:pPr>
            <a:r>
              <a:rPr sz="4800" b="1" dirty="0">
                <a:solidFill>
                  <a:schemeClr val="accent1">
                    <a:lumMod val="50000"/>
                  </a:schemeClr>
                </a:solidFill>
                <a:latin typeface="Arial Black" panose="020B0A04020102020204" pitchFamily="34" charset="0"/>
              </a:rPr>
              <a:t>Fuente de datos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2674" y="930208"/>
            <a:ext cx="10396883" cy="5531551"/>
          </a:xfrm>
        </p:spPr>
        <p:txBody>
          <a:bodyPr>
            <a:normAutofit fontScale="92500" lnSpcReduction="10000"/>
          </a:bodyPr>
          <a:lstStyle/>
          <a:p>
            <a:r>
              <a:rPr lang="es-E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Dataset</a:t>
            </a:r>
            <a:r>
              <a:rPr lang="es-E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 </a:t>
            </a:r>
            <a:r>
              <a:rPr lang="e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Organización Ambiental </a:t>
            </a:r>
            <a:r>
              <a:rPr lang="es-E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Iraní </a:t>
            </a:r>
            <a:r>
              <a:rPr lang="e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(2017)</a:t>
            </a:r>
          </a:p>
          <a:p>
            <a:r>
              <a:rPr lang="e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2123</a:t>
            </a:r>
            <a:r>
              <a:rPr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Contaminación </a:t>
            </a:r>
            <a:r>
              <a:rPr lang="e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 aire </a:t>
            </a:r>
            <a:r>
              <a:rPr lang="e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estaciones</a:t>
            </a:r>
            <a:endParaRPr lang="es-E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Métricas incluidas:</a:t>
            </a:r>
            <a:endParaRPr lang="es-E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r>
              <a:rPr lang="e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 ( </a:t>
            </a:r>
            <a:r>
              <a:rPr lang="e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Carbono</a:t>
            </a:r>
            <a:r>
              <a:rPr lang="e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Monóxido </a:t>
            </a:r>
            <a:r>
              <a:rPr lang="e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457200" lvl="1" indent="0">
              <a:buNone/>
            </a:pPr>
            <a:r>
              <a:rPr lang="e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O3 (ozono)</a:t>
            </a:r>
          </a:p>
          <a:p>
            <a:pPr marL="457200" lvl="1" indent="0">
              <a:buNone/>
            </a:pPr>
            <a:r>
              <a:rPr lang="e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NO2 ( </a:t>
            </a:r>
            <a:r>
              <a:rPr lang="e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Nitrógeno</a:t>
            </a:r>
            <a:r>
              <a:rPr lang="e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Dióxido </a:t>
            </a:r>
            <a:r>
              <a:rPr lang="e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457200" lvl="1" indent="0">
              <a:buNone/>
            </a:pPr>
            <a:r>
              <a:rPr lang="e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SO2 ( </a:t>
            </a:r>
            <a:r>
              <a:rPr lang="e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Azufre</a:t>
            </a:r>
            <a:r>
              <a:rPr lang="e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Dióxido </a:t>
            </a:r>
            <a:r>
              <a:rPr lang="e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457200" lvl="1" indent="0">
              <a:buNone/>
            </a:pPr>
            <a:r>
              <a:rPr lang="e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PM10 ( partículas Materia 10)</a:t>
            </a:r>
          </a:p>
          <a:p>
            <a:pPr marL="457200" lvl="1" indent="0">
              <a:buNone/>
            </a:pPr>
            <a:r>
              <a:rPr lang="e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PM2.5 ( partículas Materia 2.5)</a:t>
            </a:r>
          </a:p>
          <a:p>
            <a:pPr marL="0" indent="0">
              <a:buNone/>
            </a:pPr>
            <a:r>
              <a:rPr lang="e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Objetivo:</a:t>
            </a:r>
          </a:p>
          <a:p>
            <a:pPr marL="0" indent="0">
              <a:buNone/>
            </a:pPr>
            <a:r>
              <a:rPr lang="e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AQI(ICA) (Índice Calidad del aire)</a:t>
            </a:r>
          </a:p>
          <a:p>
            <a:pPr marL="0" indent="0">
              <a:buNone/>
            </a:pPr>
            <a:endParaRPr lang="es-E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  <a:defRPr sz="1800"/>
            </a:pPr>
            <a:r>
              <a:rPr lang="e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Creando </a:t>
            </a:r>
            <a:r>
              <a:rPr lang="e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objetivos </a:t>
            </a:r>
            <a:r>
              <a:rPr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s-E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800"/>
            </a:pPr>
            <a:r>
              <a:rPr lang="e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Descripción 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800"/>
            </a:pPr>
            <a:r>
              <a:rPr lang="e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Promedio del AQI</a:t>
            </a:r>
            <a:r>
              <a:rPr lang="e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(ICA) </a:t>
            </a:r>
            <a:endParaRPr lang="e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  <a:defRPr sz="1800"/>
            </a:pPr>
            <a:endParaRPr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C5CFBD1-35B3-ACC4-E2F0-B43573B8FE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9720" y="1324959"/>
            <a:ext cx="6812280" cy="558441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57F7FE-D1B7-781D-A79F-F4EDAC3522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777" y="119510"/>
            <a:ext cx="10396882" cy="1151965"/>
          </a:xfrm>
        </p:spPr>
        <p:txBody>
          <a:bodyPr>
            <a:normAutofit/>
          </a:bodyPr>
          <a:lstStyle/>
          <a:p>
            <a:r>
              <a:rPr lang="es" sz="4800" b="1" dirty="0" err="1">
                <a:solidFill>
                  <a:schemeClr val="accent1">
                    <a:lumMod val="50000"/>
                  </a:schemeClr>
                </a:solidFill>
                <a:latin typeface="Arial Black" panose="020B0A04020102020204" pitchFamily="34" charset="0"/>
              </a:rPr>
              <a:t>Problemas</a:t>
            </a:r>
            <a:r>
              <a:rPr lang="es" sz="4800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s" sz="4800" b="1" dirty="0">
                <a:solidFill>
                  <a:schemeClr val="accent1">
                    <a:lumMod val="50000"/>
                  </a:schemeClr>
                </a:solidFill>
                <a:latin typeface="Arial Black" panose="020B0A04020102020204" pitchFamily="34" charset="0"/>
              </a:rPr>
              <a:t>en </a:t>
            </a:r>
            <a:r>
              <a:rPr lang="es" sz="4800" b="1" dirty="0" err="1">
                <a:solidFill>
                  <a:schemeClr val="accent1">
                    <a:lumMod val="50000"/>
                  </a:schemeClr>
                </a:solidFill>
                <a:latin typeface="Arial Black" panose="020B0A04020102020204" pitchFamily="34" charset="0"/>
              </a:rPr>
              <a:t>los </a:t>
            </a:r>
            <a:r>
              <a:rPr lang="es" sz="4800" b="1" dirty="0">
                <a:solidFill>
                  <a:schemeClr val="accent1">
                    <a:lumMod val="50000"/>
                  </a:schemeClr>
                </a:solidFill>
                <a:latin typeface="Arial Black" panose="020B0A04020102020204" pitchFamily="34" charset="0"/>
              </a:rPr>
              <a:t>datos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188A821-517C-2785-FC6C-7700EEBBE0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271475"/>
            <a:ext cx="10396883" cy="5038183"/>
          </a:xfrm>
        </p:spPr>
        <p:txBody>
          <a:bodyPr>
            <a:normAutofit/>
          </a:bodyPr>
          <a:lstStyle/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Missing Values </a:t>
            </a:r>
            <a:r>
              <a:rPr lang="e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se resuelven utilizando la mediana.</a:t>
            </a:r>
          </a:p>
          <a:p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Filas duplicadas: eliminadas.</a:t>
            </a:r>
          </a:p>
          <a:p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Nombres y contenidos de las columnas: Originalmente escrito en persa; convertido al inglés.</a:t>
            </a:r>
            <a:endParaRPr lang="es-E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s-E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s-E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  <a:defRPr sz="1800"/>
            </a:pPr>
            <a:endParaRPr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0CB252F-DA72-7871-8AF2-47DC4A1411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388" y="4160520"/>
            <a:ext cx="11785223" cy="2428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96929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9C8404-4921-B449-4A93-CFCED6C29F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s" b="1" dirty="0"/>
              <a:t>ICA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A310004-D4B2-3D13-3580-0A685CAA713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739331"/>
            <a:ext cx="5860026" cy="3865056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4EEF1C2-69B3-0F6E-7063-311DA45D3D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8957" y="1739329"/>
            <a:ext cx="6353043" cy="3865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64018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D296593-F3C7-7E85-C36E-079CB045D7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6375" y="0"/>
            <a:ext cx="9335625" cy="685800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51935F38-1D9F-7186-6264-EBB6F88F1E0C}"/>
              </a:ext>
            </a:extLst>
          </p:cNvPr>
          <p:cNvSpPr txBox="1">
            <a:spLocks/>
          </p:cNvSpPr>
          <p:nvPr/>
        </p:nvSpPr>
        <p:spPr>
          <a:xfrm>
            <a:off x="0" y="18255"/>
            <a:ext cx="237399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ES" b="1"/>
              <a:t>Heatmap</a:t>
            </a:r>
            <a:endParaRPr lang="es-ES" b="1" dirty="0"/>
          </a:p>
        </p:txBody>
      </p:sp>
    </p:spTree>
    <p:extLst>
      <p:ext uri="{BB962C8B-B14F-4D97-AF65-F5344CB8AC3E}">
        <p14:creationId xmlns:p14="http://schemas.microsoft.com/office/powerpoint/2010/main" val="13852265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769EFD-C0B4-F892-72D5-FA04F43D38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7C20B5-91AE-5AEF-A6F1-624E4C0E94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68275"/>
            <a:ext cx="10515600" cy="1325563"/>
          </a:xfrm>
        </p:spPr>
        <p:txBody>
          <a:bodyPr/>
          <a:lstStyle/>
          <a:p>
            <a:r>
              <a:rPr lang="es-ES" b="1" dirty="0" err="1"/>
              <a:t>Regression</a:t>
            </a:r>
            <a:endParaRPr lang="es-ES" b="1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2037842-76FE-FBEA-2607-F6F7F77FDB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2333691"/>
              </p:ext>
            </p:extLst>
          </p:nvPr>
        </p:nvGraphicFramePr>
        <p:xfrm>
          <a:off x="642140" y="1046205"/>
          <a:ext cx="10330660" cy="54390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6960">
                  <a:extLst>
                    <a:ext uri="{9D8B030D-6E8A-4147-A177-3AD203B41FA5}">
                      <a16:colId xmlns:a16="http://schemas.microsoft.com/office/drawing/2014/main" val="1565574285"/>
                    </a:ext>
                  </a:extLst>
                </a:gridCol>
                <a:gridCol w="3342944">
                  <a:extLst>
                    <a:ext uri="{9D8B030D-6E8A-4147-A177-3AD203B41FA5}">
                      <a16:colId xmlns:a16="http://schemas.microsoft.com/office/drawing/2014/main" val="2326736414"/>
                    </a:ext>
                  </a:extLst>
                </a:gridCol>
                <a:gridCol w="3320025">
                  <a:extLst>
                    <a:ext uri="{9D8B030D-6E8A-4147-A177-3AD203B41FA5}">
                      <a16:colId xmlns:a16="http://schemas.microsoft.com/office/drawing/2014/main" val="2523292424"/>
                    </a:ext>
                  </a:extLst>
                </a:gridCol>
                <a:gridCol w="2610731">
                  <a:extLst>
                    <a:ext uri="{9D8B030D-6E8A-4147-A177-3AD203B41FA5}">
                      <a16:colId xmlns:a16="http://schemas.microsoft.com/office/drawing/2014/main" val="529335773"/>
                    </a:ext>
                  </a:extLst>
                </a:gridCol>
              </a:tblGrid>
              <a:tr h="331772">
                <a:tc>
                  <a:txBody>
                    <a:bodyPr/>
                    <a:lstStyle/>
                    <a:p>
                      <a:pPr algn="ctr" fontAlgn="ctr"/>
                      <a:r>
                        <a:rPr lang="es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Rango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" sz="1800" b="1" kern="1200" dirty="0" err="1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Modelo</a:t>
                      </a:r>
                      <a:endParaRPr lang="es-ES" sz="1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MAE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R²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975397185"/>
                  </a:ext>
                </a:extLst>
              </a:tr>
              <a:tr h="783726">
                <a:tc>
                  <a:txBody>
                    <a:bodyPr/>
                    <a:lstStyle/>
                    <a:p>
                      <a:pPr algn="ctr" fontAlgn="ctr"/>
                      <a:r>
                        <a:rPr lang="e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s-E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Gradient</a:t>
                      </a:r>
                      <a:r>
                        <a:rPr lang="es-E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s-E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Boosting</a:t>
                      </a:r>
                      <a:r>
                        <a:rPr lang="es-E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4.576557</a:t>
                      </a:r>
                      <a:endParaRPr lang="es-E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0.909186</a:t>
                      </a:r>
                      <a:endParaRPr lang="es-E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581614524"/>
                  </a:ext>
                </a:extLst>
              </a:tr>
              <a:tr h="783726">
                <a:tc>
                  <a:txBody>
                    <a:bodyPr/>
                    <a:lstStyle/>
                    <a:p>
                      <a:pPr algn="ctr" fontAlgn="ctr"/>
                      <a:r>
                        <a:rPr lang="e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Random</a:t>
                      </a:r>
                      <a:r>
                        <a:rPr lang="es-E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s-E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Forest</a:t>
                      </a:r>
                      <a:r>
                        <a:rPr lang="es-E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4.947887</a:t>
                      </a:r>
                      <a:endParaRPr lang="es-E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0.905484</a:t>
                      </a:r>
                      <a:endParaRPr lang="es-E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581033765"/>
                  </a:ext>
                </a:extLst>
              </a:tr>
              <a:tr h="548609">
                <a:tc>
                  <a:txBody>
                    <a:bodyPr/>
                    <a:lstStyle/>
                    <a:p>
                      <a:pPr algn="ctr" fontAlgn="ctr"/>
                      <a:r>
                        <a:rPr lang="e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XGBoost</a:t>
                      </a:r>
                      <a:r>
                        <a:rPr lang="es-E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lang="es-E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4.962615</a:t>
                      </a:r>
                      <a:endParaRPr lang="es-E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0.905852</a:t>
                      </a:r>
                      <a:endParaRPr lang="es-E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241583381"/>
                  </a:ext>
                </a:extLst>
              </a:tr>
              <a:tr h="548609">
                <a:tc>
                  <a:txBody>
                    <a:bodyPr/>
                    <a:lstStyle/>
                    <a:p>
                      <a:pPr algn="ctr" fontAlgn="ctr"/>
                      <a:r>
                        <a:rPr lang="e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KNN</a:t>
                      </a:r>
                      <a:r>
                        <a:rPr lang="es-E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5.127256</a:t>
                      </a:r>
                      <a:endParaRPr lang="es-E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0.873260</a:t>
                      </a:r>
                      <a:endParaRPr lang="es-E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544590997"/>
                  </a:ext>
                </a:extLst>
              </a:tr>
              <a:tr h="783726">
                <a:tc>
                  <a:txBody>
                    <a:bodyPr/>
                    <a:lstStyle/>
                    <a:p>
                      <a:pPr algn="ctr" fontAlgn="ctr"/>
                      <a:r>
                        <a:rPr lang="e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Decision</a:t>
                      </a:r>
                      <a:r>
                        <a:rPr lang="es-E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s-E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Tree</a:t>
                      </a:r>
                      <a:r>
                        <a:rPr lang="es-E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5.332536</a:t>
                      </a:r>
                      <a:endParaRPr lang="es-E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0.857144</a:t>
                      </a:r>
                      <a:endParaRPr lang="es-E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466218643"/>
                  </a:ext>
                </a:extLst>
              </a:tr>
              <a:tr h="331772">
                <a:tc>
                  <a:txBody>
                    <a:bodyPr/>
                    <a:lstStyle/>
                    <a:p>
                      <a:pPr algn="ctr" fontAlgn="ctr"/>
                      <a:r>
                        <a:rPr lang="e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s-E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SVR</a:t>
                      </a:r>
                      <a:r>
                        <a:rPr lang="es-E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6.478604</a:t>
                      </a:r>
                      <a:endParaRPr lang="es-E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0.813697</a:t>
                      </a:r>
                      <a:endParaRPr lang="es-E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426457784"/>
                  </a:ext>
                </a:extLst>
              </a:tr>
              <a:tr h="331772">
                <a:tc>
                  <a:txBody>
                    <a:bodyPr/>
                    <a:lstStyle/>
                    <a:p>
                      <a:pPr algn="ctr" fontAlgn="ctr"/>
                      <a:r>
                        <a:rPr lang="e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ElasticNet</a:t>
                      </a:r>
                      <a:endParaRPr lang="es-ES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13.003160</a:t>
                      </a:r>
                      <a:endParaRPr lang="es-E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0.693486</a:t>
                      </a:r>
                      <a:endParaRPr lang="es-E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48478578"/>
                  </a:ext>
                </a:extLst>
              </a:tr>
              <a:tr h="331772">
                <a:tc>
                  <a:txBody>
                    <a:bodyPr/>
                    <a:lstStyle/>
                    <a:p>
                      <a:pPr algn="ctr" fontAlgn="ctr"/>
                      <a:r>
                        <a:rPr lang="e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Lasso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13.003974</a:t>
                      </a:r>
                      <a:endParaRPr lang="es-E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0.693382</a:t>
                      </a:r>
                      <a:endParaRPr lang="es-E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0187663"/>
                  </a:ext>
                </a:extLst>
              </a:tr>
              <a:tr h="331772">
                <a:tc>
                  <a:txBody>
                    <a:bodyPr/>
                    <a:lstStyle/>
                    <a:p>
                      <a:pPr algn="ctr" fontAlgn="ctr"/>
                      <a:r>
                        <a:rPr lang="e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Linear </a:t>
                      </a:r>
                      <a:r>
                        <a:rPr lang="es-E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Regression</a:t>
                      </a:r>
                      <a:endParaRPr lang="es-ES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13.018671</a:t>
                      </a:r>
                      <a:endParaRPr lang="es-E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0.691836</a:t>
                      </a:r>
                      <a:endParaRPr lang="es-E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027848591"/>
                  </a:ext>
                </a:extLst>
              </a:tr>
              <a:tr h="331772">
                <a:tc>
                  <a:txBody>
                    <a:bodyPr/>
                    <a:lstStyle/>
                    <a:p>
                      <a:pPr algn="ctr" fontAlgn="ctr"/>
                      <a:r>
                        <a:rPr lang="e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Ridge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13.018671</a:t>
                      </a:r>
                      <a:endParaRPr lang="es-E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0.691836</a:t>
                      </a:r>
                      <a:endParaRPr lang="es-E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9385172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112220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B337CD-7885-ED29-C143-7CF01F870B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EE03BEC-4EF2-DF3F-C1A4-746161AEBF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2118064"/>
              </p:ext>
            </p:extLst>
          </p:nvPr>
        </p:nvGraphicFramePr>
        <p:xfrm>
          <a:off x="106681" y="903331"/>
          <a:ext cx="11475721" cy="67194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9192">
                  <a:extLst>
                    <a:ext uri="{9D8B030D-6E8A-4147-A177-3AD203B41FA5}">
                      <a16:colId xmlns:a16="http://schemas.microsoft.com/office/drawing/2014/main" val="1565574285"/>
                    </a:ext>
                  </a:extLst>
                </a:gridCol>
                <a:gridCol w="2021630">
                  <a:extLst>
                    <a:ext uri="{9D8B030D-6E8A-4147-A177-3AD203B41FA5}">
                      <a16:colId xmlns:a16="http://schemas.microsoft.com/office/drawing/2014/main" val="2326736414"/>
                    </a:ext>
                  </a:extLst>
                </a:gridCol>
                <a:gridCol w="2007770">
                  <a:extLst>
                    <a:ext uri="{9D8B030D-6E8A-4147-A177-3AD203B41FA5}">
                      <a16:colId xmlns:a16="http://schemas.microsoft.com/office/drawing/2014/main" val="2523292424"/>
                    </a:ext>
                  </a:extLst>
                </a:gridCol>
                <a:gridCol w="1578828">
                  <a:extLst>
                    <a:ext uri="{9D8B030D-6E8A-4147-A177-3AD203B41FA5}">
                      <a16:colId xmlns:a16="http://schemas.microsoft.com/office/drawing/2014/main" val="529335773"/>
                    </a:ext>
                  </a:extLst>
                </a:gridCol>
                <a:gridCol w="5228301">
                  <a:extLst>
                    <a:ext uri="{9D8B030D-6E8A-4147-A177-3AD203B41FA5}">
                      <a16:colId xmlns:a16="http://schemas.microsoft.com/office/drawing/2014/main" val="682258468"/>
                    </a:ext>
                  </a:extLst>
                </a:gridCol>
              </a:tblGrid>
              <a:tr h="358577">
                <a:tc>
                  <a:txBody>
                    <a:bodyPr/>
                    <a:lstStyle/>
                    <a:p>
                      <a:pPr algn="ctr" fontAlgn="ctr"/>
                      <a:r>
                        <a:rPr lang="es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Rango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" sz="1800" b="1" kern="1200" dirty="0" err="1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Modelo</a:t>
                      </a:r>
                      <a:endParaRPr lang="es-ES" sz="1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"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MAE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R²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r>
                        <a:rPr lang="es" dirty="0" err="1"/>
                        <a:t>Hiperparámetros</a:t>
                      </a:r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5397185"/>
                  </a:ext>
                </a:extLst>
              </a:tr>
              <a:tr h="847046">
                <a:tc>
                  <a:txBody>
                    <a:bodyPr/>
                    <a:lstStyle/>
                    <a:p>
                      <a:pPr algn="ctr" fontAlgn="ctr"/>
                      <a:r>
                        <a:rPr lang="e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s-E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Gradient</a:t>
                      </a:r>
                      <a:r>
                        <a:rPr lang="es-E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s-E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Boosting</a:t>
                      </a:r>
                      <a:r>
                        <a:rPr lang="es-E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4.576557</a:t>
                      </a:r>
                      <a:endParaRPr lang="es-E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0.909186</a:t>
                      </a:r>
                      <a:endParaRPr lang="es-E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r>
                        <a:rPr lang="e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tasa de aprendizaje </a:t>
                      </a:r>
                      <a:r>
                        <a:rPr lang="e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0,05, </a:t>
                      </a:r>
                      <a:r>
                        <a:rPr lang="e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profundidad máxima </a:t>
                      </a:r>
                      <a:r>
                        <a:rPr lang="e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10, </a:t>
                      </a:r>
                      <a:r>
                        <a:rPr lang="e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división mínima de muestras </a:t>
                      </a:r>
                      <a:r>
                        <a:rPr lang="e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10, </a:t>
                      </a:r>
                      <a:r>
                        <a:rPr lang="e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n_estimadores </a:t>
                      </a:r>
                      <a:r>
                        <a:rPr lang="e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300, </a:t>
                      </a:r>
                      <a:r>
                        <a:rPr lang="e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submuestra </a:t>
                      </a:r>
                      <a:r>
                        <a:rPr lang="e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0,8</a:t>
                      </a:r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1614524"/>
                  </a:ext>
                </a:extLst>
              </a:tr>
              <a:tr h="847046">
                <a:tc>
                  <a:txBody>
                    <a:bodyPr/>
                    <a:lstStyle/>
                    <a:p>
                      <a:pPr algn="ctr" fontAlgn="ctr"/>
                      <a:r>
                        <a:rPr lang="e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Random</a:t>
                      </a:r>
                      <a:r>
                        <a:rPr lang="es-E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s-E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Forest</a:t>
                      </a:r>
                      <a:r>
                        <a:rPr lang="es-E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4.947887</a:t>
                      </a:r>
                      <a:endParaRPr lang="es-E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0.905484</a:t>
                      </a:r>
                      <a:endParaRPr lang="es-E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r>
                        <a:rPr lang="e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profundidad máxima </a:t>
                      </a:r>
                      <a:r>
                        <a:rPr lang="e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e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Ninguna </a:t>
                      </a:r>
                      <a:r>
                        <a:rPr lang="e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características máximas </a:t>
                      </a:r>
                      <a:r>
                        <a:rPr lang="e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e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Ninguna </a:t>
                      </a:r>
                      <a:r>
                        <a:rPr lang="e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número mínimo de muestras de hoja </a:t>
                      </a:r>
                      <a:r>
                        <a:rPr lang="e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1, </a:t>
                      </a:r>
                      <a:r>
                        <a:rPr lang="e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división mínima de muestras </a:t>
                      </a:r>
                      <a:r>
                        <a:rPr lang="e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2, </a:t>
                      </a:r>
                      <a:r>
                        <a:rPr lang="e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n_estimadores </a:t>
                      </a:r>
                      <a:r>
                        <a:rPr lang="e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300</a:t>
                      </a:r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1033765"/>
                  </a:ext>
                </a:extLst>
              </a:tr>
              <a:tr h="592933">
                <a:tc>
                  <a:txBody>
                    <a:bodyPr/>
                    <a:lstStyle/>
                    <a:p>
                      <a:pPr algn="ctr" fontAlgn="ctr"/>
                      <a:r>
                        <a:rPr lang="e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XGBoost</a:t>
                      </a:r>
                      <a:r>
                        <a:rPr lang="es-E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lang="es-E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4.962615</a:t>
                      </a:r>
                      <a:endParaRPr lang="es-E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0.905852</a:t>
                      </a:r>
                      <a:endParaRPr lang="es-E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r>
                        <a:rPr lang="e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tasa de aprendizaje </a:t>
                      </a:r>
                      <a:r>
                        <a:rPr lang="e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0,1, </a:t>
                      </a:r>
                      <a:r>
                        <a:rPr lang="e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profundidad máxima </a:t>
                      </a:r>
                      <a:r>
                        <a:rPr lang="e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7, </a:t>
                      </a:r>
                      <a:r>
                        <a:rPr lang="e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n_estimadores </a:t>
                      </a:r>
                      <a:r>
                        <a:rPr lang="e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150, </a:t>
                      </a:r>
                      <a:r>
                        <a:rPr lang="e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submuestra </a:t>
                      </a:r>
                      <a:r>
                        <a:rPr lang="e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0,8</a:t>
                      </a:r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1583381"/>
                  </a:ext>
                </a:extLst>
              </a:tr>
              <a:tr h="592933">
                <a:tc>
                  <a:txBody>
                    <a:bodyPr/>
                    <a:lstStyle/>
                    <a:p>
                      <a:pPr algn="ctr" fontAlgn="ctr"/>
                      <a:r>
                        <a:rPr lang="e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KNN</a:t>
                      </a:r>
                      <a:r>
                        <a:rPr lang="es-E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5.127256</a:t>
                      </a:r>
                      <a:endParaRPr lang="es-E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0.873260</a:t>
                      </a:r>
                      <a:endParaRPr lang="es-E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r>
                        <a:rPr lang="e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métrica </a:t>
                      </a:r>
                      <a:r>
                        <a:rPr lang="e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manhattan, </a:t>
                      </a:r>
                      <a:r>
                        <a:rPr lang="e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n_vecinos </a:t>
                      </a:r>
                      <a:r>
                        <a:rPr lang="e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2, </a:t>
                      </a:r>
                      <a:r>
                        <a:rPr lang="e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pesos </a:t>
                      </a:r>
                      <a:r>
                        <a:rPr lang="e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e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distancia</a:t>
                      </a:r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4590997"/>
                  </a:ext>
                </a:extLst>
              </a:tr>
              <a:tr h="847046">
                <a:tc>
                  <a:txBody>
                    <a:bodyPr/>
                    <a:lstStyle/>
                    <a:p>
                      <a:pPr algn="ctr" fontAlgn="ctr"/>
                      <a:r>
                        <a:rPr lang="e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Decision</a:t>
                      </a:r>
                      <a:r>
                        <a:rPr lang="es-E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s-E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Tree</a:t>
                      </a:r>
                      <a:r>
                        <a:rPr lang="es-E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5.332536</a:t>
                      </a:r>
                      <a:endParaRPr lang="es-E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0.857144</a:t>
                      </a:r>
                      <a:endParaRPr lang="es-E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r>
                        <a:rPr lang="e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criterio </a:t>
                      </a:r>
                      <a:r>
                        <a:rPr lang="e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e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error_cuadrado </a:t>
                      </a:r>
                      <a:r>
                        <a:rPr lang="e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profundidad_máxima </a:t>
                      </a:r>
                      <a:r>
                        <a:rPr lang="e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e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Ninguna </a:t>
                      </a:r>
                      <a:r>
                        <a:rPr lang="e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características_máximas </a:t>
                      </a:r>
                      <a:r>
                        <a:rPr lang="e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e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Ninguna </a:t>
                      </a:r>
                      <a:r>
                        <a:rPr lang="e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número_mínimo_de_muestras_de_hoja </a:t>
                      </a:r>
                      <a:r>
                        <a:rPr lang="e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1, </a:t>
                      </a:r>
                      <a:r>
                        <a:rPr lang="e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número_mínimo_de_muestras_de_división </a:t>
                      </a:r>
                      <a:r>
                        <a:rPr lang="e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2</a:t>
                      </a:r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6218643"/>
                  </a:ext>
                </a:extLst>
              </a:tr>
              <a:tr h="358577">
                <a:tc>
                  <a:txBody>
                    <a:bodyPr/>
                    <a:lstStyle/>
                    <a:p>
                      <a:pPr algn="ctr" fontAlgn="ctr"/>
                      <a:r>
                        <a:rPr lang="e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s-E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SVR</a:t>
                      </a:r>
                      <a:r>
                        <a:rPr lang="es-E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6.478604</a:t>
                      </a:r>
                      <a:endParaRPr lang="es-E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0.813697</a:t>
                      </a:r>
                      <a:endParaRPr lang="es-E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r>
                        <a:rPr lang="e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C: 100, </a:t>
                      </a:r>
                      <a:r>
                        <a:rPr lang="e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grado </a:t>
                      </a:r>
                      <a:r>
                        <a:rPr lang="e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1, gamma: automático, </a:t>
                      </a:r>
                      <a:r>
                        <a:rPr lang="e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núcleo </a:t>
                      </a:r>
                      <a:r>
                        <a:rPr lang="e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e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rbf</a:t>
                      </a:r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6457784"/>
                  </a:ext>
                </a:extLst>
              </a:tr>
              <a:tr h="358577">
                <a:tc>
                  <a:txBody>
                    <a:bodyPr/>
                    <a:lstStyle/>
                    <a:p>
                      <a:pPr algn="ctr" fontAlgn="ctr"/>
                      <a:r>
                        <a:rPr lang="e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ElasticNet</a:t>
                      </a:r>
                      <a:endParaRPr lang="es-ES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13.003160</a:t>
                      </a:r>
                      <a:endParaRPr lang="es-E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0.693486</a:t>
                      </a:r>
                      <a:endParaRPr lang="es-E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r>
                        <a:rPr lang="e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alfa </a:t>
                      </a:r>
                      <a:r>
                        <a:rPr lang="e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0,7543120063354622, relación l1: 1.</a:t>
                      </a:r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478578"/>
                  </a:ext>
                </a:extLst>
              </a:tr>
              <a:tr h="358577">
                <a:tc>
                  <a:txBody>
                    <a:bodyPr/>
                    <a:lstStyle/>
                    <a:p>
                      <a:pPr algn="ctr" fontAlgn="ctr"/>
                      <a:r>
                        <a:rPr lang="e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Lasso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13.003974</a:t>
                      </a:r>
                      <a:endParaRPr lang="es-E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0.693382</a:t>
                      </a:r>
                      <a:endParaRPr lang="es-E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r>
                        <a:rPr lang="e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alfa </a:t>
                      </a:r>
                      <a:r>
                        <a:rPr lang="e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0,774263682681127</a:t>
                      </a:r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87663"/>
                  </a:ext>
                </a:extLst>
              </a:tr>
              <a:tr h="358577">
                <a:tc>
                  <a:txBody>
                    <a:bodyPr/>
                    <a:lstStyle/>
                    <a:p>
                      <a:pPr algn="ctr" fontAlgn="ctr"/>
                      <a:r>
                        <a:rPr lang="e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Regresión </a:t>
                      </a:r>
                      <a:endParaRPr lang="es-ES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13.018671</a:t>
                      </a:r>
                      <a:endParaRPr lang="es-E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0.691836</a:t>
                      </a:r>
                      <a:endParaRPr lang="es-E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r>
                        <a:rPr lang="es" dirty="0"/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7848591"/>
                  </a:ext>
                </a:extLst>
              </a:tr>
              <a:tr h="358577">
                <a:tc>
                  <a:txBody>
                    <a:bodyPr/>
                    <a:lstStyle/>
                    <a:p>
                      <a:pPr algn="ctr" fontAlgn="ctr"/>
                      <a:r>
                        <a:rPr lang="e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Cresta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13.018671</a:t>
                      </a:r>
                      <a:endParaRPr lang="es-E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0.691836</a:t>
                      </a:r>
                      <a:endParaRPr lang="es-E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r>
                        <a:rPr lang="e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alfa </a:t>
                      </a:r>
                      <a:r>
                        <a:rPr lang="e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0,0001</a:t>
                      </a:r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8517289"/>
                  </a:ext>
                </a:extLst>
              </a:tr>
            </a:tbl>
          </a:graphicData>
        </a:graphic>
      </p:graphicFrame>
      <p:sp>
        <p:nvSpPr>
          <p:cNvPr id="6" name="Title 1">
            <a:extLst>
              <a:ext uri="{FF2B5EF4-FFF2-40B4-BE49-F238E27FC236}">
                <a16:creationId xmlns:a16="http://schemas.microsoft.com/office/drawing/2014/main" id="{E84CA029-4342-D159-5E16-0E235BD86223}"/>
              </a:ext>
            </a:extLst>
          </p:cNvPr>
          <p:cNvSpPr txBox="1">
            <a:spLocks/>
          </p:cNvSpPr>
          <p:nvPr/>
        </p:nvSpPr>
        <p:spPr>
          <a:xfrm>
            <a:off x="0" y="-16827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b="1"/>
              <a:t>Regression</a:t>
            </a:r>
            <a:endParaRPr lang="es-ES" b="1" dirty="0"/>
          </a:p>
        </p:txBody>
      </p:sp>
    </p:spTree>
    <p:extLst>
      <p:ext uri="{BB962C8B-B14F-4D97-AF65-F5344CB8AC3E}">
        <p14:creationId xmlns:p14="http://schemas.microsoft.com/office/powerpoint/2010/main" val="29533377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B4666D-A2B7-8085-D7A9-20A87222A8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s-ES" b="1" dirty="0" err="1"/>
              <a:t>Regression</a:t>
            </a:r>
            <a:endParaRPr lang="es-ES" b="1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B15E08-91F4-4271-C326-1114E734AE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A8270F0-8E2D-0490-0254-94F84DE1C4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03300"/>
            <a:ext cx="11330577" cy="5854700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5BE0B369-E08C-6871-27B8-A963D133AEB7}"/>
              </a:ext>
            </a:extLst>
          </p:cNvPr>
          <p:cNvSpPr/>
          <p:nvPr/>
        </p:nvSpPr>
        <p:spPr>
          <a:xfrm>
            <a:off x="5817561" y="4529137"/>
            <a:ext cx="5667633" cy="132556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89405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8A6921-55CE-5A36-84BB-920BB15922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41890"/>
            <a:ext cx="10515600" cy="1325563"/>
          </a:xfrm>
        </p:spPr>
        <p:txBody>
          <a:bodyPr/>
          <a:lstStyle/>
          <a:p>
            <a:r>
              <a:rPr lang="es-ES" b="1" dirty="0" err="1"/>
              <a:t>Regression</a:t>
            </a:r>
            <a:endParaRPr lang="es-ES" b="1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03EEA2E-AA79-7AF9-54FE-CCFDE5EF02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56" y="792479"/>
            <a:ext cx="7921440" cy="5032979"/>
          </a:xfrm>
          <a:prstGeom prst="rect">
            <a:avLst/>
          </a:prstGeom>
        </p:spPr>
      </p:pic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E216AFB6-DF1C-21EF-E61F-988E0104E6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222624"/>
              </p:ext>
            </p:extLst>
          </p:nvPr>
        </p:nvGraphicFramePr>
        <p:xfrm>
          <a:off x="3507294" y="2243163"/>
          <a:ext cx="3244850" cy="200304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550760">
                  <a:extLst>
                    <a:ext uri="{9D8B030D-6E8A-4147-A177-3AD203B41FA5}">
                      <a16:colId xmlns:a16="http://schemas.microsoft.com/office/drawing/2014/main" val="3527718895"/>
                    </a:ext>
                  </a:extLst>
                </a:gridCol>
                <a:gridCol w="1694090">
                  <a:extLst>
                    <a:ext uri="{9D8B030D-6E8A-4147-A177-3AD203B41FA5}">
                      <a16:colId xmlns:a16="http://schemas.microsoft.com/office/drawing/2014/main" val="3495062987"/>
                    </a:ext>
                  </a:extLst>
                </a:gridCol>
              </a:tblGrid>
              <a:tr h="286149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" sz="1100" kern="100" dirty="0" err="1">
                          <a:effectLst/>
                        </a:rPr>
                        <a:t>Característica</a:t>
                      </a:r>
                      <a:endParaRPr lang="es-ES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" sz="1100" kern="100">
                          <a:effectLst/>
                        </a:rPr>
                        <a:t>Importancia</a:t>
                      </a:r>
                      <a:endParaRPr lang="es-E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576541281"/>
                  </a:ext>
                </a:extLst>
              </a:tr>
              <a:tr h="286149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" sz="1100" kern="100">
                          <a:effectLst/>
                        </a:rPr>
                        <a:t>PM2.5</a:t>
                      </a:r>
                      <a:endParaRPr lang="es-E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" sz="1100" kern="100">
                          <a:effectLst/>
                        </a:rPr>
                        <a:t>0.697276</a:t>
                      </a:r>
                      <a:endParaRPr lang="es-E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066358028"/>
                  </a:ext>
                </a:extLst>
              </a:tr>
              <a:tr h="286149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" sz="1100" kern="100">
                          <a:effectLst/>
                        </a:rPr>
                        <a:t>CO</a:t>
                      </a:r>
                      <a:endParaRPr lang="es-E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" sz="1100" kern="100" dirty="0">
                          <a:effectLst/>
                        </a:rPr>
                        <a:t>0.105519</a:t>
                      </a:r>
                      <a:endParaRPr lang="es-ES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37761689"/>
                  </a:ext>
                </a:extLst>
              </a:tr>
              <a:tr h="286149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" sz="1100" kern="100">
                          <a:effectLst/>
                        </a:rPr>
                        <a:t>NO2</a:t>
                      </a:r>
                      <a:endParaRPr lang="es-E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" sz="1100" kern="100" dirty="0">
                          <a:effectLst/>
                        </a:rPr>
                        <a:t>0.063716</a:t>
                      </a:r>
                      <a:endParaRPr lang="es-ES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11288131"/>
                  </a:ext>
                </a:extLst>
              </a:tr>
              <a:tr h="286149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" sz="1100" kern="100">
                          <a:effectLst/>
                        </a:rPr>
                        <a:t>O3</a:t>
                      </a:r>
                      <a:endParaRPr lang="es-E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" sz="1100" kern="100" dirty="0">
                          <a:effectLst/>
                        </a:rPr>
                        <a:t>0.053219</a:t>
                      </a:r>
                      <a:endParaRPr lang="es-ES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597183188"/>
                  </a:ext>
                </a:extLst>
              </a:tr>
              <a:tr h="286149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" sz="1100" kern="100">
                          <a:effectLst/>
                        </a:rPr>
                        <a:t>PM10</a:t>
                      </a:r>
                      <a:endParaRPr lang="es-E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" sz="1100" kern="100">
                          <a:effectLst/>
                        </a:rPr>
                        <a:t>0.053100</a:t>
                      </a:r>
                      <a:endParaRPr lang="es-E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569896803"/>
                  </a:ext>
                </a:extLst>
              </a:tr>
              <a:tr h="286149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" sz="1100" kern="100">
                          <a:effectLst/>
                        </a:rPr>
                        <a:t>SO2</a:t>
                      </a:r>
                      <a:endParaRPr lang="es-E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" sz="1100" kern="100" dirty="0">
                          <a:effectLst/>
                        </a:rPr>
                        <a:t>0.027170</a:t>
                      </a:r>
                      <a:endParaRPr lang="es-ES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693257586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8BD29E4F-DAEC-2C18-41E7-F66BDB44DEBE}"/>
              </a:ext>
            </a:extLst>
          </p:cNvPr>
          <p:cNvSpPr txBox="1"/>
          <p:nvPr/>
        </p:nvSpPr>
        <p:spPr>
          <a:xfrm>
            <a:off x="7971896" y="1183673"/>
            <a:ext cx="4169648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" dirty="0"/>
              <a:t>El control de las emisiones de PM2,5 debería ser el objetivo principal para mejorar la calidad del aire.</a:t>
            </a:r>
          </a:p>
          <a:p>
            <a:endParaRPr lang="en-US" dirty="0"/>
          </a:p>
          <a:p>
            <a:r>
              <a:rPr lang="es" dirty="0"/>
              <a:t>La contribución del CO destaca la necesidad de monitorear más de cerca las emisiones del tráfico y las actividades de combustión.</a:t>
            </a:r>
          </a:p>
          <a:p>
            <a:endParaRPr lang="en-US" dirty="0"/>
          </a:p>
          <a:p>
            <a:r>
              <a:rPr lang="es" dirty="0"/>
              <a:t>El NO2 (dióxido de nitrógeno), el O3 (ozono) y las PM10 tienen una importancia relativamente baja.</a:t>
            </a:r>
          </a:p>
          <a:p>
            <a:r>
              <a:rPr lang="es" dirty="0"/>
              <a:t>Estos contaminantes todavía influyen en la calidad del aire, pero son menos significativos en comparación con PM2.5.</a:t>
            </a:r>
            <a:endParaRPr lang="es-E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7869AD9-1C11-5E72-9928-4F2FFB82C55F}"/>
              </a:ext>
            </a:extLst>
          </p:cNvPr>
          <p:cNvSpPr txBox="1"/>
          <p:nvPr/>
        </p:nvSpPr>
        <p:spPr>
          <a:xfrm>
            <a:off x="1934211" y="6065521"/>
            <a:ext cx="29565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ctr"/>
            <a:r>
              <a:rPr lang="es-ES" sz="2800" b="0" i="0" kern="1200" dirty="0">
                <a:solidFill>
                  <a:schemeClr val="dk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ES" sz="2800" b="0" i="0" kern="1200" dirty="0" err="1">
                <a:solidFill>
                  <a:schemeClr val="dk1"/>
                </a:solidFill>
                <a:effectLst/>
                <a:latin typeface="+mn-lt"/>
                <a:ea typeface="+mn-ea"/>
                <a:cs typeface="+mn-cs"/>
              </a:rPr>
              <a:t>Gradient</a:t>
            </a:r>
            <a:r>
              <a:rPr lang="es-ES" sz="2800" b="0" i="0" kern="1200" dirty="0">
                <a:solidFill>
                  <a:schemeClr val="dk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ES" sz="2800" b="0" i="0" kern="1200" dirty="0" err="1">
                <a:solidFill>
                  <a:schemeClr val="dk1"/>
                </a:solidFill>
                <a:effectLst/>
                <a:latin typeface="+mn-lt"/>
                <a:ea typeface="+mn-ea"/>
                <a:cs typeface="+mn-cs"/>
              </a:rPr>
              <a:t>Boosting</a:t>
            </a:r>
            <a:r>
              <a:rPr lang="es-ES" sz="2800" b="0" i="0" kern="1200" dirty="0">
                <a:solidFill>
                  <a:schemeClr val="dk1"/>
                </a:solidFill>
                <a:effectLst/>
                <a:latin typeface="+mn-lt"/>
                <a:ea typeface="+mn-ea"/>
                <a:cs typeface="+mn-cs"/>
              </a:rPr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35591235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7AD620-31A0-DAC8-F751-3A4A6E770A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C4C18F-E8FD-3752-A02D-787CE3423F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373599"/>
            <a:ext cx="10515600" cy="1325563"/>
          </a:xfrm>
        </p:spPr>
        <p:txBody>
          <a:bodyPr/>
          <a:lstStyle/>
          <a:p>
            <a:r>
              <a:rPr lang="es-ES" b="1" dirty="0" err="1"/>
              <a:t>Classification</a:t>
            </a:r>
            <a:endParaRPr lang="es-ES" b="1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53115396-8FBC-37C2-6998-E7388D2AAE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6549164"/>
              </p:ext>
            </p:extLst>
          </p:nvPr>
        </p:nvGraphicFramePr>
        <p:xfrm>
          <a:off x="848496" y="573023"/>
          <a:ext cx="10008973" cy="5907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88627">
                  <a:extLst>
                    <a:ext uri="{9D8B030D-6E8A-4147-A177-3AD203B41FA5}">
                      <a16:colId xmlns:a16="http://schemas.microsoft.com/office/drawing/2014/main" val="1895761423"/>
                    </a:ext>
                  </a:extLst>
                </a:gridCol>
                <a:gridCol w="2001795">
                  <a:extLst>
                    <a:ext uri="{9D8B030D-6E8A-4147-A177-3AD203B41FA5}">
                      <a16:colId xmlns:a16="http://schemas.microsoft.com/office/drawing/2014/main" val="2770008535"/>
                    </a:ext>
                  </a:extLst>
                </a:gridCol>
                <a:gridCol w="2081866">
                  <a:extLst>
                    <a:ext uri="{9D8B030D-6E8A-4147-A177-3AD203B41FA5}">
                      <a16:colId xmlns:a16="http://schemas.microsoft.com/office/drawing/2014/main" val="2340363045"/>
                    </a:ext>
                  </a:extLst>
                </a:gridCol>
                <a:gridCol w="1895032">
                  <a:extLst>
                    <a:ext uri="{9D8B030D-6E8A-4147-A177-3AD203B41FA5}">
                      <a16:colId xmlns:a16="http://schemas.microsoft.com/office/drawing/2014/main" val="3867568301"/>
                    </a:ext>
                  </a:extLst>
                </a:gridCol>
                <a:gridCol w="1841653">
                  <a:extLst>
                    <a:ext uri="{9D8B030D-6E8A-4147-A177-3AD203B41FA5}">
                      <a16:colId xmlns:a16="http://schemas.microsoft.com/office/drawing/2014/main" val="1088541123"/>
                    </a:ext>
                  </a:extLst>
                </a:gridCol>
              </a:tblGrid>
              <a:tr h="55037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" b="0" i="0" dirty="0">
                          <a:solidFill>
                            <a:srgbClr val="FFFFFF"/>
                          </a:solidFill>
                          <a:effectLst/>
                          <a:latin typeface="Consolas" panose="020B0609020204030204" pitchFamily="49" charset="0"/>
                        </a:rPr>
                        <a:t>Modelo</a:t>
                      </a:r>
                      <a:endParaRPr lang="es-ES" dirty="0"/>
                    </a:p>
                    <a:p>
                      <a:pPr algn="ctr"/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 b="0" i="0" kern="1200" dirty="0">
                          <a:solidFill>
                            <a:srgbClr val="FFFFFF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Accuracy</a:t>
                      </a:r>
                      <a:endParaRPr lang="es-ES" sz="1800" b="0" i="0" kern="1200" dirty="0">
                        <a:solidFill>
                          <a:srgbClr val="FFFFFF"/>
                        </a:solidFill>
                        <a:effectLst/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solidFill>
                            <a:srgbClr val="FFFFFF"/>
                          </a:solidFill>
                          <a:effectLst/>
                          <a:latin typeface="Consolas" panose="020B0609020204030204" pitchFamily="49" charset="0"/>
                        </a:rPr>
                        <a:t>F1-score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solidFill>
                            <a:srgbClr val="FFFFFF"/>
                          </a:solidFill>
                          <a:effectLst/>
                          <a:latin typeface="Consolas" panose="020B0609020204030204" pitchFamily="49" charset="0"/>
                        </a:rPr>
                        <a:t>ROC AUC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i="0" dirty="0">
                          <a:solidFill>
                            <a:srgbClr val="FFFFFF"/>
                          </a:solidFill>
                          <a:effectLst/>
                          <a:latin typeface="Consolas" panose="020B0609020204030204" pitchFamily="49" charset="0"/>
                        </a:rPr>
                        <a:t>Recall</a:t>
                      </a:r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5376009"/>
                  </a:ext>
                </a:extLst>
              </a:tr>
              <a:tr h="786256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ES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Gradient Boosting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0.9426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0.9840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0.7251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0.7222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07359914"/>
                  </a:ext>
                </a:extLst>
              </a:tr>
              <a:tr h="786256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ES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XGBoost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0.9330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0.9715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0,7285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0.7266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523226310"/>
                  </a:ext>
                </a:extLst>
              </a:tr>
              <a:tr h="102213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Random Forest</a:t>
                      </a:r>
                      <a:endParaRPr lang="es-ES" sz="1800" b="0" i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0.9282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0.9897</a:t>
                      </a:r>
                      <a:endParaRPr lang="es-ES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0.7219</a:t>
                      </a:r>
                      <a:endParaRPr lang="es-ES" sz="1800" b="0" i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0.7103</a:t>
                      </a:r>
                      <a:endParaRPr lang="es-ES" sz="1800" b="0" i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35808974"/>
                  </a:ext>
                </a:extLst>
              </a:tr>
              <a:tr h="786256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ES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KNN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0.9258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0.9444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0.9268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0.9131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23198263"/>
                  </a:ext>
                </a:extLst>
              </a:tr>
              <a:tr h="786256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ES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Decision Tree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0.9067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0.8367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0.7081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0.7029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83803870"/>
                  </a:ext>
                </a:extLst>
              </a:tr>
              <a:tr h="550379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SVC</a:t>
                      </a:r>
                      <a:endParaRPr lang="es-ES" sz="1800" b="0" i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0.8612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0.9707</a:t>
                      </a:r>
                      <a:endParaRPr lang="es-ES" sz="1800" b="0" i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0.6777</a:t>
                      </a:r>
                      <a:endParaRPr lang="es-ES" sz="1800" b="0" i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0.6713</a:t>
                      </a:r>
                      <a:endParaRPr lang="es-ES" sz="1800" b="0" i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407156551"/>
                  </a:ext>
                </a:extLst>
              </a:tr>
              <a:tr h="550379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E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Logistic</a:t>
                      </a:r>
                      <a:r>
                        <a:rPr lang="es-E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s-E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Regression</a:t>
                      </a:r>
                      <a:endParaRPr lang="es-ES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0,7727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0.8662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0.6108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0.5854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3653862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957637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EEAB03-F68C-5456-902C-A8DD8AC44F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286292-62FF-CAC2-E226-1B34B5E1E8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373599"/>
            <a:ext cx="10515600" cy="1325563"/>
          </a:xfrm>
        </p:spPr>
        <p:txBody>
          <a:bodyPr/>
          <a:lstStyle/>
          <a:p>
            <a:r>
              <a:rPr lang="es-ES" b="1" dirty="0" err="1"/>
              <a:t>Classification</a:t>
            </a:r>
            <a:endParaRPr lang="es-ES" b="1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A99BAFD8-3BE9-C8F9-D995-2320A5B6A3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9139896"/>
              </p:ext>
            </p:extLst>
          </p:nvPr>
        </p:nvGraphicFramePr>
        <p:xfrm>
          <a:off x="0" y="536786"/>
          <a:ext cx="12024359" cy="63821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9679">
                  <a:extLst>
                    <a:ext uri="{9D8B030D-6E8A-4147-A177-3AD203B41FA5}">
                      <a16:colId xmlns:a16="http://schemas.microsoft.com/office/drawing/2014/main" val="1895761423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770008535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340363045"/>
                    </a:ext>
                  </a:extLst>
                </a:gridCol>
                <a:gridCol w="1082040">
                  <a:extLst>
                    <a:ext uri="{9D8B030D-6E8A-4147-A177-3AD203B41FA5}">
                      <a16:colId xmlns:a16="http://schemas.microsoft.com/office/drawing/2014/main" val="3867568301"/>
                    </a:ext>
                  </a:extLst>
                </a:gridCol>
                <a:gridCol w="1051561">
                  <a:extLst>
                    <a:ext uri="{9D8B030D-6E8A-4147-A177-3AD203B41FA5}">
                      <a16:colId xmlns:a16="http://schemas.microsoft.com/office/drawing/2014/main" val="1088541123"/>
                    </a:ext>
                  </a:extLst>
                </a:gridCol>
                <a:gridCol w="6309359">
                  <a:extLst>
                    <a:ext uri="{9D8B030D-6E8A-4147-A177-3AD203B41FA5}">
                      <a16:colId xmlns:a16="http://schemas.microsoft.com/office/drawing/2014/main" val="3935846739"/>
                    </a:ext>
                  </a:extLst>
                </a:gridCol>
              </a:tblGrid>
              <a:tr h="55037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" b="0" i="0" dirty="0">
                          <a:solidFill>
                            <a:srgbClr val="FFFFFF"/>
                          </a:solidFill>
                          <a:effectLst/>
                          <a:latin typeface="Consolas" panose="020B0609020204030204" pitchFamily="49" charset="0"/>
                        </a:rPr>
                        <a:t>Modelo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 b="0" i="0" kern="1200" dirty="0">
                          <a:solidFill>
                            <a:srgbClr val="FFFFFF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Accuracy</a:t>
                      </a:r>
                      <a:endParaRPr lang="es-ES" sz="1800" b="0" i="0" kern="1200" dirty="0">
                        <a:solidFill>
                          <a:srgbClr val="FFFFFF"/>
                        </a:solidFill>
                        <a:effectLst/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solidFill>
                            <a:srgbClr val="FFFFFF"/>
                          </a:solidFill>
                          <a:effectLst/>
                          <a:latin typeface="Consolas" panose="020B0609020204030204" pitchFamily="49" charset="0"/>
                        </a:rPr>
                        <a:t>F1-score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solidFill>
                            <a:srgbClr val="FFFFFF"/>
                          </a:solidFill>
                          <a:effectLst/>
                          <a:latin typeface="Consolas" panose="020B0609020204030204" pitchFamily="49" charset="0"/>
                        </a:rPr>
                        <a:t>ROC AUC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i="0" dirty="0">
                          <a:solidFill>
                            <a:srgbClr val="FFFFFF"/>
                          </a:solidFill>
                          <a:effectLst/>
                          <a:latin typeface="Consolas" panose="020B0609020204030204" pitchFamily="49" charset="0"/>
                        </a:rPr>
                        <a:t>Recall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" b="0" i="0" dirty="0">
                          <a:solidFill>
                            <a:srgbClr val="FFFFFF"/>
                          </a:solidFill>
                          <a:effectLst/>
                          <a:latin typeface="Consolas" panose="020B0609020204030204" pitchFamily="49" charset="0"/>
                        </a:rPr>
                        <a:t>Modelo</a:t>
                      </a:r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5376009"/>
                  </a:ext>
                </a:extLst>
              </a:tr>
              <a:tr h="786256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ES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Gradient Boosting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0.9426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0.9840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0.7251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0.7222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tasa_de_aprendizaje </a:t>
                      </a:r>
                      <a:r>
                        <a:rPr lang="e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0,1, </a:t>
                      </a:r>
                      <a:r>
                        <a:rPr lang="e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profundidad_máxima </a:t>
                      </a:r>
                      <a:r>
                        <a:rPr lang="e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7, </a:t>
                      </a:r>
                      <a:r>
                        <a:rPr lang="e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n_estimadores </a:t>
                      </a:r>
                      <a:r>
                        <a:rPr lang="e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100, </a:t>
                      </a:r>
                      <a:r>
                        <a:rPr lang="e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submuestra </a:t>
                      </a:r>
                      <a:r>
                        <a:rPr lang="e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0,8}</a:t>
                      </a:r>
                      <a:endParaRPr lang="es-ES" dirty="0"/>
                    </a:p>
                    <a:p>
                      <a:pPr algn="ctr"/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7359914"/>
                  </a:ext>
                </a:extLst>
              </a:tr>
              <a:tr h="786256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ES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XGBoost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0.9330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0.9715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0,7285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0.7266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colsample_bytree </a:t>
                      </a:r>
                      <a:r>
                        <a:rPr lang="e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0.8, </a:t>
                      </a:r>
                      <a:r>
                        <a:rPr lang="e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tasa de aprendizaje </a:t>
                      </a:r>
                      <a:r>
                        <a:rPr lang="e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0.1, </a:t>
                      </a:r>
                      <a:r>
                        <a:rPr lang="e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profundidad máxima </a:t>
                      </a:r>
                      <a:r>
                        <a:rPr lang="e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7, </a:t>
                      </a:r>
                      <a:r>
                        <a:rPr lang="e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n_estimadores </a:t>
                      </a:r>
                      <a:r>
                        <a:rPr lang="e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50, </a:t>
                      </a:r>
                      <a:r>
                        <a:rPr lang="e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submuestra </a:t>
                      </a:r>
                      <a:r>
                        <a:rPr lang="e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0.8</a:t>
                      </a:r>
                      <a:endParaRPr lang="es-ES" dirty="0"/>
                    </a:p>
                    <a:p>
                      <a:pPr algn="ctr"/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3226310"/>
                  </a:ext>
                </a:extLst>
              </a:tr>
              <a:tr h="102213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Random Forest</a:t>
                      </a:r>
                      <a:endParaRPr lang="es-ES" sz="1800" b="0" i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0.9282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0.9897</a:t>
                      </a:r>
                      <a:endParaRPr lang="es-ES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0.7219</a:t>
                      </a:r>
                      <a:endParaRPr lang="es-ES" sz="1800" b="0" i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0.7103</a:t>
                      </a:r>
                      <a:endParaRPr lang="es-ES" sz="1800" b="0" i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profundidad máxima </a:t>
                      </a:r>
                      <a:r>
                        <a:rPr lang="e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e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Ninguna </a:t>
                      </a:r>
                      <a:r>
                        <a:rPr lang="e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características máximas </a:t>
                      </a:r>
                      <a:r>
                        <a:rPr lang="e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e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raíz cuadrada </a:t>
                      </a:r>
                      <a:r>
                        <a:rPr lang="e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hojas mínimas de muestras </a:t>
                      </a:r>
                      <a:r>
                        <a:rPr lang="e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1, </a:t>
                      </a:r>
                      <a:r>
                        <a:rPr lang="e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división mínima de muestras </a:t>
                      </a:r>
                      <a:r>
                        <a:rPr lang="e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2, </a:t>
                      </a:r>
                      <a:r>
                        <a:rPr lang="e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estimadores n </a:t>
                      </a:r>
                      <a:r>
                        <a:rPr lang="e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200</a:t>
                      </a:r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808974"/>
                  </a:ext>
                </a:extLst>
              </a:tr>
              <a:tr h="786256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ES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KNN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0.9258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0.9444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0.9268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0.9131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métrica </a:t>
                      </a:r>
                      <a:r>
                        <a:rPr lang="e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e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euclidiana </a:t>
                      </a:r>
                      <a:r>
                        <a:rPr lang="e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n_vecinos </a:t>
                      </a:r>
                      <a:r>
                        <a:rPr lang="e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1, </a:t>
                      </a:r>
                      <a:r>
                        <a:rPr lang="e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pesos </a:t>
                      </a:r>
                      <a:r>
                        <a:rPr lang="e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e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uniformes</a:t>
                      </a:r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3198263"/>
                  </a:ext>
                </a:extLst>
              </a:tr>
              <a:tr h="786256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ES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Decision Tree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0.9067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0.8367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0.7081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0.7029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criterio </a:t>
                      </a:r>
                      <a:r>
                        <a:rPr lang="e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e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entropía </a:t>
                      </a:r>
                      <a:r>
                        <a:rPr lang="e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profundidad máxima </a:t>
                      </a:r>
                      <a:r>
                        <a:rPr lang="e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e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Ninguna </a:t>
                      </a:r>
                      <a:r>
                        <a:rPr lang="e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número mínimo de muestras de hoja </a:t>
                      </a:r>
                      <a:r>
                        <a:rPr lang="e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1, </a:t>
                      </a:r>
                      <a:r>
                        <a:rPr lang="e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división mínima de muestras </a:t>
                      </a:r>
                      <a:r>
                        <a:rPr lang="e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2}</a:t>
                      </a:r>
                      <a:endParaRPr lang="es-ES" dirty="0"/>
                    </a:p>
                    <a:p>
                      <a:pPr algn="ctr"/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3803870"/>
                  </a:ext>
                </a:extLst>
              </a:tr>
              <a:tr h="550379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SVC</a:t>
                      </a:r>
                      <a:endParaRPr lang="es-ES" sz="1800" b="0" i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0.8612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0.9707</a:t>
                      </a:r>
                      <a:endParaRPr lang="es-ES" sz="1800" b="0" i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0.6777</a:t>
                      </a:r>
                      <a:endParaRPr lang="es-ES" sz="1800" b="0" i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0.6713</a:t>
                      </a:r>
                      <a:endParaRPr lang="es-ES" sz="1800" b="0" i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C: 10, gamma: </a:t>
                      </a:r>
                      <a:r>
                        <a:rPr lang="e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escala </a:t>
                      </a:r>
                      <a:r>
                        <a:rPr lang="e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núcleo </a:t>
                      </a:r>
                      <a:r>
                        <a:rPr lang="e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e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rbf</a:t>
                      </a:r>
                      <a:r>
                        <a:rPr lang="e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lang="es-ES" dirty="0"/>
                    </a:p>
                    <a:p>
                      <a:pPr algn="ctr"/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7156551"/>
                  </a:ext>
                </a:extLst>
              </a:tr>
              <a:tr h="550379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E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Logistic</a:t>
                      </a:r>
                      <a:r>
                        <a:rPr lang="es-E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s-E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Regression</a:t>
                      </a:r>
                      <a:endParaRPr lang="es-ES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0,7727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0.8662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0.6108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0.5854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C: 11.288378916846883, solucionador: lbfgs</a:t>
                      </a:r>
                      <a:endParaRPr lang="es-ES" dirty="0"/>
                    </a:p>
                    <a:p>
                      <a:pPr algn="ctr"/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53862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312834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7A6F94-967D-6B08-5F35-2CCF3C5337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54AE58-94D1-42A1-3AF4-7B2A2A1A05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200502"/>
            <a:ext cx="10515600" cy="1325563"/>
          </a:xfrm>
        </p:spPr>
        <p:txBody>
          <a:bodyPr/>
          <a:lstStyle/>
          <a:p>
            <a:r>
              <a:rPr lang="es-ES" b="1" dirty="0" err="1"/>
              <a:t>Classification</a:t>
            </a:r>
            <a:endParaRPr lang="es-ES" b="1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E4B54BA-4D90-91A8-4F8F-E128B6C3B6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274" y="741420"/>
            <a:ext cx="8220166" cy="6116580"/>
          </a:xfrm>
          <a:prstGeom prst="rect">
            <a:avLst/>
          </a:prstGeom>
        </p:spPr>
      </p:pic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735F027A-D339-0374-FC2E-DD9703C493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6990032"/>
              </p:ext>
            </p:extLst>
          </p:nvPr>
        </p:nvGraphicFramePr>
        <p:xfrm>
          <a:off x="4091804" y="2556219"/>
          <a:ext cx="3459480" cy="248698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653334">
                  <a:extLst>
                    <a:ext uri="{9D8B030D-6E8A-4147-A177-3AD203B41FA5}">
                      <a16:colId xmlns:a16="http://schemas.microsoft.com/office/drawing/2014/main" val="3157243398"/>
                    </a:ext>
                  </a:extLst>
                </a:gridCol>
                <a:gridCol w="1806146">
                  <a:extLst>
                    <a:ext uri="{9D8B030D-6E8A-4147-A177-3AD203B41FA5}">
                      <a16:colId xmlns:a16="http://schemas.microsoft.com/office/drawing/2014/main" val="1123445643"/>
                    </a:ext>
                  </a:extLst>
                </a:gridCol>
              </a:tblGrid>
              <a:tr h="35528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" sz="1100" kern="100">
                          <a:effectLst/>
                        </a:rPr>
                        <a:t>Característica</a:t>
                      </a:r>
                      <a:endParaRPr lang="es-E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" sz="1100" kern="100">
                          <a:effectLst/>
                        </a:rPr>
                        <a:t>Importancia</a:t>
                      </a:r>
                      <a:endParaRPr lang="es-E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127555561"/>
                  </a:ext>
                </a:extLst>
              </a:tr>
              <a:tr h="35528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" sz="1100" kern="100">
                          <a:effectLst/>
                        </a:rPr>
                        <a:t>PM2.5</a:t>
                      </a:r>
                      <a:endParaRPr lang="es-E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" sz="1100" kern="100">
                          <a:effectLst/>
                        </a:rPr>
                        <a:t>0.596267</a:t>
                      </a:r>
                      <a:endParaRPr lang="es-E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040943201"/>
                  </a:ext>
                </a:extLst>
              </a:tr>
              <a:tr h="35528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" sz="1100" kern="100" dirty="0">
                          <a:effectLst/>
                        </a:rPr>
                        <a:t>NO2</a:t>
                      </a:r>
                      <a:endParaRPr lang="es-ES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" sz="1100" kern="100">
                          <a:effectLst/>
                        </a:rPr>
                        <a:t>0.112122</a:t>
                      </a:r>
                      <a:endParaRPr lang="es-E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941583182"/>
                  </a:ext>
                </a:extLst>
              </a:tr>
              <a:tr h="35528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" sz="1100" kern="100">
                          <a:effectLst/>
                        </a:rPr>
                        <a:t>CO</a:t>
                      </a:r>
                      <a:endParaRPr lang="es-E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" sz="1100" kern="100">
                          <a:effectLst/>
                        </a:rPr>
                        <a:t>0.105613</a:t>
                      </a:r>
                      <a:endParaRPr lang="es-E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146560960"/>
                  </a:ext>
                </a:extLst>
              </a:tr>
              <a:tr h="35528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" sz="1100" kern="100">
                          <a:effectLst/>
                        </a:rPr>
                        <a:t>PM10</a:t>
                      </a:r>
                      <a:endParaRPr lang="es-E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" sz="1100" kern="100">
                          <a:effectLst/>
                        </a:rPr>
                        <a:t>0.087409</a:t>
                      </a:r>
                      <a:endParaRPr lang="es-E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916762052"/>
                  </a:ext>
                </a:extLst>
              </a:tr>
              <a:tr h="35528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" sz="1100" kern="100">
                          <a:effectLst/>
                        </a:rPr>
                        <a:t>O3</a:t>
                      </a:r>
                      <a:endParaRPr lang="es-E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" sz="1100" kern="100">
                          <a:effectLst/>
                        </a:rPr>
                        <a:t>0.055173</a:t>
                      </a:r>
                      <a:endParaRPr lang="es-E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770031297"/>
                  </a:ext>
                </a:extLst>
              </a:tr>
              <a:tr h="35528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" sz="1100" kern="100">
                          <a:effectLst/>
                        </a:rPr>
                        <a:t>SO2</a:t>
                      </a:r>
                      <a:endParaRPr lang="es-E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" sz="1100" kern="100" dirty="0">
                          <a:effectLst/>
                        </a:rPr>
                        <a:t>0.043416</a:t>
                      </a:r>
                      <a:endParaRPr lang="es-ES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885249269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58FB1F4C-C3F1-2FA0-69D0-66E639132436}"/>
              </a:ext>
            </a:extLst>
          </p:cNvPr>
          <p:cNvSpPr txBox="1"/>
          <p:nvPr/>
        </p:nvSpPr>
        <p:spPr>
          <a:xfrm>
            <a:off x="8801244" y="1593475"/>
            <a:ext cx="2978091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" dirty="0"/>
              <a:t>El control de las emisiones de PM2,5 debería ser el objetivo principal para mejorar la calidad del aire.</a:t>
            </a:r>
          </a:p>
          <a:p>
            <a:endParaRPr lang="en-US" dirty="0"/>
          </a:p>
          <a:p>
            <a:r>
              <a:rPr lang="es" dirty="0"/>
              <a:t>La contribución del NO2 y el CO pone de relieve la necesidad de vigilar más de cerca las emisiones del tráfico y las actividades de combustión.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4B47670-64FC-8A8B-7425-6A674B4ED0E4}"/>
              </a:ext>
            </a:extLst>
          </p:cNvPr>
          <p:cNvSpPr txBox="1"/>
          <p:nvPr/>
        </p:nvSpPr>
        <p:spPr>
          <a:xfrm>
            <a:off x="7096667" y="6276057"/>
            <a:ext cx="65989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ctr"/>
            <a:r>
              <a:rPr lang="es-ES" sz="2800" b="0" i="0" kern="1200" dirty="0">
                <a:solidFill>
                  <a:schemeClr val="dk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ES" sz="2800" b="0" i="0" kern="1200" dirty="0" err="1">
                <a:solidFill>
                  <a:schemeClr val="dk1"/>
                </a:solidFill>
                <a:effectLst/>
                <a:latin typeface="+mn-lt"/>
                <a:ea typeface="+mn-ea"/>
                <a:cs typeface="+mn-cs"/>
              </a:rPr>
              <a:t>Gradient</a:t>
            </a:r>
            <a:r>
              <a:rPr lang="es-ES" sz="2800" b="0" i="0" kern="1200" dirty="0">
                <a:solidFill>
                  <a:schemeClr val="dk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ES" sz="2800" b="0" i="0" kern="1200" dirty="0" err="1">
                <a:solidFill>
                  <a:schemeClr val="dk1"/>
                </a:solidFill>
                <a:effectLst/>
                <a:latin typeface="+mn-lt"/>
                <a:ea typeface="+mn-ea"/>
                <a:cs typeface="+mn-cs"/>
              </a:rPr>
              <a:t>Boosting</a:t>
            </a:r>
            <a:r>
              <a:rPr lang="es-ES" sz="2800" b="0" i="0" kern="1200" dirty="0">
                <a:solidFill>
                  <a:schemeClr val="dk1"/>
                </a:solidFill>
                <a:effectLst/>
                <a:latin typeface="+mn-lt"/>
                <a:ea typeface="+mn-ea"/>
                <a:cs typeface="+mn-cs"/>
              </a:rPr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28483349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76BF8DB8-C541-6EF3-CB60-30512C94CB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12520"/>
            <a:ext cx="8319754" cy="5745480"/>
          </a:xfrm>
          <a:prstGeom prst="rect">
            <a:avLst/>
          </a:prstGeom>
        </p:spPr>
      </p:pic>
      <p:graphicFrame>
        <p:nvGraphicFramePr>
          <p:cNvPr id="10" name="Content Placeholder 9">
            <a:extLst>
              <a:ext uri="{FF2B5EF4-FFF2-40B4-BE49-F238E27FC236}">
                <a16:creationId xmlns:a16="http://schemas.microsoft.com/office/drawing/2014/main" id="{6640D5BB-8E0E-874F-1B1A-4C38797D6A8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0648476"/>
              </p:ext>
            </p:extLst>
          </p:nvPr>
        </p:nvGraphicFramePr>
        <p:xfrm>
          <a:off x="8319754" y="2247900"/>
          <a:ext cx="3872247" cy="23622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013568">
                  <a:extLst>
                    <a:ext uri="{9D8B030D-6E8A-4147-A177-3AD203B41FA5}">
                      <a16:colId xmlns:a16="http://schemas.microsoft.com/office/drawing/2014/main" val="408947310"/>
                    </a:ext>
                  </a:extLst>
                </a:gridCol>
                <a:gridCol w="1858679">
                  <a:extLst>
                    <a:ext uri="{9D8B030D-6E8A-4147-A177-3AD203B41FA5}">
                      <a16:colId xmlns:a16="http://schemas.microsoft.com/office/drawing/2014/main" val="3920425664"/>
                    </a:ext>
                  </a:extLst>
                </a:gridCol>
              </a:tblGrid>
              <a:tr h="3937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" sz="1800" b="1" kern="100" dirty="0">
                          <a:solidFill>
                            <a:schemeClr val="tx1"/>
                          </a:solidFill>
                          <a:effectLst/>
                        </a:rPr>
                        <a:t>PM2.5</a:t>
                      </a:r>
                      <a:endParaRPr lang="es-ES" sz="1800" b="1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" sz="1800" b="1" kern="100">
                          <a:solidFill>
                            <a:schemeClr val="tx1"/>
                          </a:solidFill>
                          <a:effectLst/>
                        </a:rPr>
                        <a:t>0.6051</a:t>
                      </a:r>
                      <a:endParaRPr lang="es-ES" sz="1800" b="1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5885496"/>
                  </a:ext>
                </a:extLst>
              </a:tr>
              <a:tr h="3937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" sz="1800" b="1" kern="100">
                          <a:solidFill>
                            <a:schemeClr val="tx1"/>
                          </a:solidFill>
                          <a:effectLst/>
                        </a:rPr>
                        <a:t>CO</a:t>
                      </a:r>
                      <a:endParaRPr lang="es-ES" sz="1800" b="1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" sz="1800" b="1" kern="100" dirty="0">
                          <a:solidFill>
                            <a:schemeClr val="tx1"/>
                          </a:solidFill>
                          <a:effectLst/>
                        </a:rPr>
                        <a:t>0.1024</a:t>
                      </a:r>
                      <a:endParaRPr lang="es-ES" sz="1800" b="1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9557110"/>
                  </a:ext>
                </a:extLst>
              </a:tr>
              <a:tr h="3937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" sz="1800" b="1" kern="100" dirty="0">
                          <a:solidFill>
                            <a:schemeClr val="tx1"/>
                          </a:solidFill>
                          <a:effectLst/>
                        </a:rPr>
                        <a:t>PM10</a:t>
                      </a:r>
                      <a:endParaRPr lang="es-ES" sz="1800" b="1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" sz="1800" b="1" kern="100">
                          <a:solidFill>
                            <a:schemeClr val="tx1"/>
                          </a:solidFill>
                          <a:effectLst/>
                        </a:rPr>
                        <a:t>0.0872</a:t>
                      </a:r>
                      <a:endParaRPr lang="es-ES" sz="1800" b="1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5114951"/>
                  </a:ext>
                </a:extLst>
              </a:tr>
              <a:tr h="3937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" sz="1800" b="1" kern="100">
                          <a:solidFill>
                            <a:schemeClr val="tx1"/>
                          </a:solidFill>
                          <a:effectLst/>
                        </a:rPr>
                        <a:t>NO2</a:t>
                      </a:r>
                      <a:endParaRPr lang="es-ES" sz="1800" b="1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" sz="1800" b="1" kern="100">
                          <a:solidFill>
                            <a:schemeClr val="tx1"/>
                          </a:solidFill>
                          <a:effectLst/>
                        </a:rPr>
                        <a:t>0.0818</a:t>
                      </a:r>
                      <a:endParaRPr lang="es-ES" sz="1800" b="1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0268788"/>
                  </a:ext>
                </a:extLst>
              </a:tr>
              <a:tr h="3937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" sz="1800" b="1" kern="100">
                          <a:solidFill>
                            <a:schemeClr val="tx1"/>
                          </a:solidFill>
                          <a:effectLst/>
                        </a:rPr>
                        <a:t>O3</a:t>
                      </a:r>
                      <a:endParaRPr lang="es-ES" sz="1800" b="1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" sz="1800" b="1" kern="100">
                          <a:solidFill>
                            <a:schemeClr val="tx1"/>
                          </a:solidFill>
                          <a:effectLst/>
                        </a:rPr>
                        <a:t>0.0711</a:t>
                      </a:r>
                      <a:endParaRPr lang="es-ES" sz="1800" b="1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9231823"/>
                  </a:ext>
                </a:extLst>
              </a:tr>
              <a:tr h="3937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" sz="1800" b="1" kern="100">
                          <a:solidFill>
                            <a:schemeClr val="tx1"/>
                          </a:solidFill>
                          <a:effectLst/>
                        </a:rPr>
                        <a:t>SO2</a:t>
                      </a:r>
                      <a:endParaRPr lang="es-ES" sz="1800" b="1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" sz="1800" b="1" kern="100" dirty="0">
                          <a:solidFill>
                            <a:schemeClr val="tx1"/>
                          </a:solidFill>
                          <a:effectLst/>
                        </a:rPr>
                        <a:t>0.0524</a:t>
                      </a:r>
                      <a:endParaRPr lang="es-ES" sz="1800" b="1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608634"/>
                  </a:ext>
                </a:extLst>
              </a:tr>
            </a:tbl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A09ABD1D-506A-13AD-2111-88C436A67EEF}"/>
              </a:ext>
            </a:extLst>
          </p:cNvPr>
          <p:cNvSpPr txBox="1">
            <a:spLocks/>
          </p:cNvSpPr>
          <p:nvPr/>
        </p:nvSpPr>
        <p:spPr>
          <a:xfrm>
            <a:off x="0" y="1825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b="1" dirty="0"/>
              <a:t>Deep </a:t>
            </a:r>
            <a:r>
              <a:rPr lang="es-ES" b="1" dirty="0" err="1"/>
              <a:t>Learning-MPLs-Regressiom</a:t>
            </a:r>
            <a:endParaRPr lang="es-ES" b="1" dirty="0"/>
          </a:p>
        </p:txBody>
      </p:sp>
    </p:spTree>
    <p:extLst>
      <p:ext uri="{BB962C8B-B14F-4D97-AF65-F5344CB8AC3E}">
        <p14:creationId xmlns:p14="http://schemas.microsoft.com/office/powerpoint/2010/main" val="37346493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EFEEDC8-807C-B744-7C04-EEA9B08148F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18707639"/>
              </p:ext>
            </p:extLst>
          </p:nvPr>
        </p:nvGraphicFramePr>
        <p:xfrm>
          <a:off x="7955281" y="2297430"/>
          <a:ext cx="4236719" cy="236305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14520">
                  <a:extLst>
                    <a:ext uri="{9D8B030D-6E8A-4147-A177-3AD203B41FA5}">
                      <a16:colId xmlns:a16="http://schemas.microsoft.com/office/drawing/2014/main" val="3659179300"/>
                    </a:ext>
                  </a:extLst>
                </a:gridCol>
                <a:gridCol w="2222199">
                  <a:extLst>
                    <a:ext uri="{9D8B030D-6E8A-4147-A177-3AD203B41FA5}">
                      <a16:colId xmlns:a16="http://schemas.microsoft.com/office/drawing/2014/main" val="510388449"/>
                    </a:ext>
                  </a:extLst>
                </a:gridCol>
              </a:tblGrid>
              <a:tr h="396240"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" sz="18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PM2.5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" sz="18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0.5308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060525822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" sz="18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PM10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" sz="18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0.1554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977709002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" sz="18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NO2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" sz="18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0.1149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634010988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" sz="18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" sz="18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0.0918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124266068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" sz="18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O3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" sz="18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0.0604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947522197"/>
                  </a:ext>
                </a:extLst>
              </a:tr>
              <a:tr h="381852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" sz="18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SO2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" sz="18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0.0467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564003427"/>
                  </a:ext>
                </a:extLst>
              </a:tr>
            </a:tbl>
          </a:graphicData>
        </a:graphic>
      </p:graphicFrame>
      <p:pic>
        <p:nvPicPr>
          <p:cNvPr id="12" name="Picture 11">
            <a:extLst>
              <a:ext uri="{FF2B5EF4-FFF2-40B4-BE49-F238E27FC236}">
                <a16:creationId xmlns:a16="http://schemas.microsoft.com/office/drawing/2014/main" id="{4D4BFA20-FFDA-0C53-4B90-6099A4A215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933344"/>
            <a:ext cx="7955282" cy="589788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68C2C8A7-0727-9F73-9216-A47D2CA471B0}"/>
              </a:ext>
            </a:extLst>
          </p:cNvPr>
          <p:cNvSpPr txBox="1">
            <a:spLocks/>
          </p:cNvSpPr>
          <p:nvPr/>
        </p:nvSpPr>
        <p:spPr>
          <a:xfrm>
            <a:off x="-1" y="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b="1"/>
              <a:t>Deep Learning-MPLs-Classification</a:t>
            </a:r>
            <a:endParaRPr lang="es-ES" b="1" dirty="0"/>
          </a:p>
        </p:txBody>
      </p:sp>
    </p:spTree>
    <p:extLst>
      <p:ext uri="{BB962C8B-B14F-4D97-AF65-F5344CB8AC3E}">
        <p14:creationId xmlns:p14="http://schemas.microsoft.com/office/powerpoint/2010/main" val="419767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E83B75-C687-515C-8981-FA0F79F266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627E8CA8-B457-B162-024F-A15518D00CD7}"/>
              </a:ext>
            </a:extLst>
          </p:cNvPr>
          <p:cNvSpPr txBox="1">
            <a:spLocks/>
          </p:cNvSpPr>
          <p:nvPr/>
        </p:nvSpPr>
        <p:spPr>
          <a:xfrm>
            <a:off x="0" y="1825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b="1" dirty="0" err="1"/>
              <a:t>Regression</a:t>
            </a:r>
            <a:endParaRPr lang="es-ES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5889731-7866-6C53-EBDD-C3E195A3D5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12520"/>
            <a:ext cx="5818814" cy="435133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F81984FA-151E-F1E6-57CA-B00F3D8E5A38}"/>
              </a:ext>
            </a:extLst>
          </p:cNvPr>
          <p:cNvSpPr/>
          <p:nvPr/>
        </p:nvSpPr>
        <p:spPr>
          <a:xfrm>
            <a:off x="-8819" y="894365"/>
            <a:ext cx="1042273" cy="55399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" sz="30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MPL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2CCE150-4701-120C-2C3B-CA6FFA5D01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7632" y="1112521"/>
            <a:ext cx="6364367" cy="4351337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44DCF871-07C9-A064-2D71-65C0F0A2CF08}"/>
              </a:ext>
            </a:extLst>
          </p:cNvPr>
          <p:cNvSpPr/>
          <p:nvPr/>
        </p:nvSpPr>
        <p:spPr>
          <a:xfrm>
            <a:off x="11152665" y="990282"/>
            <a:ext cx="646331" cy="55399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" sz="30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GB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171D608-06F2-85E3-4B6E-F89FD2FAC1D6}"/>
              </a:ext>
            </a:extLst>
          </p:cNvPr>
          <p:cNvSpPr txBox="1">
            <a:spLocks/>
          </p:cNvSpPr>
          <p:nvPr/>
        </p:nvSpPr>
        <p:spPr>
          <a:xfrm>
            <a:off x="382571" y="5658095"/>
            <a:ext cx="10972800" cy="160042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7000"/>
              </a:lnSpc>
              <a:spcAft>
                <a:spcPts val="800"/>
              </a:spcAft>
              <a:buNone/>
              <a:tabLst>
                <a:tab pos="457200" algn="l"/>
              </a:tabLst>
            </a:pPr>
            <a:r>
              <a:rPr lang="es" sz="1400" b="1" kern="1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Ambos modelos coinciden en el papel principal de PM2.5 en la predicción del ICA, lo que subraya su generalización entre métodos.</a:t>
            </a:r>
          </a:p>
          <a:p>
            <a:pPr marL="0" indent="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None/>
              <a:tabLst>
                <a:tab pos="457200" algn="l"/>
              </a:tabLst>
            </a:pPr>
            <a:r>
              <a:rPr lang="es" sz="1400" b="1" kern="1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Implicaciones para la salud y las políticas: La importancia de PM2.5, CO y PM10 se alinea con sus conocidos efectos adversos para la salud, lo que subraya su importancia en las políticas de gestión de la calidad del aire.</a:t>
            </a:r>
            <a:endParaRPr lang="es-ES" sz="1400" dirty="0"/>
          </a:p>
        </p:txBody>
      </p:sp>
    </p:spTree>
    <p:extLst>
      <p:ext uri="{BB962C8B-B14F-4D97-AF65-F5344CB8AC3E}">
        <p14:creationId xmlns:p14="http://schemas.microsoft.com/office/powerpoint/2010/main" val="33385859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55480C-359A-3B24-6E8E-2553D830B8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F539D1-1D89-0EA9-8B66-D944F5E156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E9151AB-3B44-CFE3-B81A-59E4710C324F}"/>
              </a:ext>
            </a:extLst>
          </p:cNvPr>
          <p:cNvSpPr txBox="1">
            <a:spLocks/>
          </p:cNvSpPr>
          <p:nvPr/>
        </p:nvSpPr>
        <p:spPr>
          <a:xfrm>
            <a:off x="0" y="1825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b="1" dirty="0" err="1"/>
              <a:t>Classification</a:t>
            </a:r>
            <a:endParaRPr lang="es-ES" b="1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3AFD653-B12F-E8D5-B1DE-F755F2F278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1051560"/>
            <a:ext cx="5867401" cy="4673737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B4585A9E-8692-EA72-7423-FAD25627BDE2}"/>
              </a:ext>
            </a:extLst>
          </p:cNvPr>
          <p:cNvSpPr/>
          <p:nvPr/>
        </p:nvSpPr>
        <p:spPr>
          <a:xfrm>
            <a:off x="-8819" y="894365"/>
            <a:ext cx="1042273" cy="55399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" sz="30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MPL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E8D99EC-CC2D-22D8-F6F4-5FF397F4C0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7400" y="1051561"/>
            <a:ext cx="6324600" cy="4673736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AA54448D-783B-0434-6A73-767E0D3141AB}"/>
              </a:ext>
            </a:extLst>
          </p:cNvPr>
          <p:cNvSpPr/>
          <p:nvPr/>
        </p:nvSpPr>
        <p:spPr>
          <a:xfrm>
            <a:off x="11152665" y="990282"/>
            <a:ext cx="646331" cy="55399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" sz="30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GB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0C3F486-8360-5167-0483-0BD64F9994D1}"/>
              </a:ext>
            </a:extLst>
          </p:cNvPr>
          <p:cNvSpPr txBox="1"/>
          <p:nvPr/>
        </p:nvSpPr>
        <p:spPr>
          <a:xfrm>
            <a:off x="423854" y="5773905"/>
            <a:ext cx="10929946" cy="16450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s" sz="1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PM2.5 ocupa constantemente un lugar de mayor importancia, destacando su impacto sobre la salud y el medio ambiente.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s" sz="1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Los modelos de refuerzo de gradiente tienden a asignar mayor importancia al CO y al NO2 en comparación con los modelos MLP.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s" sz="1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Los modelos MLP capturan un papel ligeramente mayor de PM10.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endParaRPr lang="en-US" sz="1400" b="1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lvl="0">
              <a:lnSpc>
                <a:spcPct val="107000"/>
              </a:lnSpc>
              <a:spcAft>
                <a:spcPts val="800"/>
              </a:spcAft>
              <a:tabLst>
                <a:tab pos="457200" algn="l"/>
              </a:tabLst>
            </a:pPr>
            <a:endParaRPr lang="es-E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794485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5C3499-9AEE-FD52-3CFD-6C1B735CF4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s-ES" dirty="0" err="1"/>
              <a:t>Clustering</a:t>
            </a:r>
            <a:endParaRPr lang="es-E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0D40402-D125-85A5-B5C3-99F662CCAAE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30910"/>
            <a:ext cx="7272951" cy="4351338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F384498-8D73-711F-F56F-ED1C0DE5414C}"/>
              </a:ext>
            </a:extLst>
          </p:cNvPr>
          <p:cNvSpPr txBox="1"/>
          <p:nvPr/>
        </p:nvSpPr>
        <p:spPr>
          <a:xfrm>
            <a:off x="7478898" y="662781"/>
            <a:ext cx="4095324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s-E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Los clústeres 0 y 2 tienden a presentar una mejor calidad del aire, con una mayor prevalencia de descripciones de ICA Excelente y Buena.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El clúster 1 muestra una combinación de condiciones Buenas y Ligeramente Contaminadas.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El clúster 3 indica una peor calidad del aire, con una mayor frecuencia de condiciones Ligeramente Contaminadas y Moderadamente Contaminadas.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El clúster 4 representa un pequeño clúster con la peor calidad del aire, mostrando la presencia de condiciones Ligeramente Contaminadas y Muy Contaminadas.</a:t>
            </a:r>
            <a:endParaRPr lang="e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6EEA422-5A54-C23D-7CA3-3976CCB8B883}"/>
              </a:ext>
            </a:extLst>
          </p:cNvPr>
          <p:cNvSpPr txBox="1"/>
          <p:nvPr/>
        </p:nvSpPr>
        <p:spPr>
          <a:xfrm>
            <a:off x="251254" y="5508193"/>
            <a:ext cx="621956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/>
              <a:t>Esta </a:t>
            </a:r>
            <a:r>
              <a:rPr lang="es-ES" dirty="0" err="1"/>
              <a:t>clustering</a:t>
            </a:r>
            <a:r>
              <a:rPr lang="es-ES" dirty="0"/>
              <a:t> sugiere una clasificación más granular con un grupo distintivo de </a:t>
            </a:r>
            <a:r>
              <a:rPr lang="es-ES" dirty="0">
                <a:highlight>
                  <a:srgbClr val="DE2A00"/>
                </a:highlight>
              </a:rPr>
              <a:t>peor calidad del aire (clúster 4) </a:t>
            </a:r>
            <a:r>
              <a:rPr lang="es-ES" dirty="0"/>
              <a:t>y una separación más clara entre </a:t>
            </a:r>
            <a:r>
              <a:rPr lang="es-ES" dirty="0">
                <a:highlight>
                  <a:srgbClr val="0000FF"/>
                </a:highlight>
              </a:rPr>
              <a:t>las condiciones mejores (clúster 2) </a:t>
            </a:r>
            <a:r>
              <a:rPr lang="es-ES" dirty="0"/>
              <a:t>y las moderadas (clúster 0 y 1) y más pobres (clúster 3).</a:t>
            </a:r>
          </a:p>
        </p:txBody>
      </p:sp>
    </p:spTree>
    <p:extLst>
      <p:ext uri="{BB962C8B-B14F-4D97-AF65-F5344CB8AC3E}">
        <p14:creationId xmlns:p14="http://schemas.microsoft.com/office/powerpoint/2010/main" val="194028970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1B604D-ED3C-6657-050F-8FC00ACE99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03E37C-45F2-DD37-41F8-833A3324D3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s-ES" dirty="0" err="1"/>
              <a:t>Clustering</a:t>
            </a:r>
            <a:endParaRPr lang="es-E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C586385-5DF5-62A8-B940-26493733EEA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9" y="979573"/>
            <a:ext cx="7248457" cy="4351338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4BBF5D8-72C6-A309-D613-718B4B6E2006}"/>
              </a:ext>
            </a:extLst>
          </p:cNvPr>
          <p:cNvSpPr txBox="1"/>
          <p:nvPr/>
        </p:nvSpPr>
        <p:spPr>
          <a:xfrm>
            <a:off x="7429471" y="662781"/>
            <a:ext cx="4095324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s-E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El clúster 2 presenta la mejor calidad del aire, caracterizada por una alta frecuencia de ICA Excelente y Buena.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El clúster 0 generalmente presenta una calidad del aire de buena a ligeramente contaminada.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El clúster 3 indica una calidad del aire más deficiente, con una mayor prevalencia de condiciones Levemente contaminadas y Moderadamente contaminadas.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El clúster 1 presenta una frecuencia general más baja y presenta una mezcla de niveles de contaminación, incluyendo una pequeña presencia de condiciones Muy contaminadas.</a:t>
            </a:r>
            <a:endParaRPr lang="e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957276C-7BF9-ABCB-4EA2-B2C8B242DB55}"/>
              </a:ext>
            </a:extLst>
          </p:cNvPr>
          <p:cNvSpPr txBox="1"/>
          <p:nvPr/>
        </p:nvSpPr>
        <p:spPr>
          <a:xfrm>
            <a:off x="520934" y="5330911"/>
            <a:ext cx="646475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/>
              <a:t>Esta </a:t>
            </a:r>
            <a:r>
              <a:rPr lang="es-ES" dirty="0" err="1"/>
              <a:t>clustering</a:t>
            </a:r>
            <a:r>
              <a:rPr lang="es-ES" dirty="0"/>
              <a:t> proporciona una visión ligeramente menos granular. La peor calidad del aire se agrupa en un grupo pequeño (clúster 1), y la distinción entre calidad del aire moderada y peor en los clústeres más grandes (0 y 3) podría ser menos nítida que en la </a:t>
            </a:r>
            <a:r>
              <a:rPr lang="es-ES" dirty="0" err="1"/>
              <a:t>clustering</a:t>
            </a:r>
            <a:r>
              <a:rPr lang="es-ES" dirty="0"/>
              <a:t> con 5 clústeres..</a:t>
            </a:r>
          </a:p>
        </p:txBody>
      </p:sp>
    </p:spTree>
    <p:extLst>
      <p:ext uri="{BB962C8B-B14F-4D97-AF65-F5344CB8AC3E}">
        <p14:creationId xmlns:p14="http://schemas.microsoft.com/office/powerpoint/2010/main" val="232515765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C54AA9-46D0-D0B6-3734-10919F89BC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11B8CA-890C-DC07-FD9D-0BBE37DA4E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s-ES" dirty="0" err="1"/>
              <a:t>Clustering</a:t>
            </a:r>
            <a:endParaRPr lang="es-E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6F2A43-4766-7F7E-6631-AB1EF12E77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La identificación clara de "Muy contaminado" favorece la </a:t>
            </a:r>
            <a:r>
              <a:rPr lang="es-ES" dirty="0" err="1"/>
              <a:t>clústering</a:t>
            </a:r>
            <a:r>
              <a:rPr lang="es-ES" dirty="0"/>
              <a:t> con 5 clústeres:</a:t>
            </a:r>
          </a:p>
          <a:p>
            <a:pPr marL="0" indent="0">
              <a:buNone/>
            </a:pPr>
            <a:r>
              <a:rPr lang="es-ES" dirty="0"/>
              <a:t>	 Importante para el análisis específico de la calidad del aire.</a:t>
            </a:r>
          </a:p>
          <a:p>
            <a:endParaRPr lang="es-ES" dirty="0"/>
          </a:p>
          <a:p>
            <a:r>
              <a:rPr lang="es-ES" dirty="0"/>
              <a:t>Elegir entre detalle y sencillez:</a:t>
            </a:r>
          </a:p>
          <a:p>
            <a:pPr marL="0" indent="0">
              <a:buNone/>
            </a:pPr>
            <a:r>
              <a:rPr lang="es-ES" dirty="0"/>
              <a:t>	la </a:t>
            </a:r>
            <a:r>
              <a:rPr lang="es-ES" dirty="0" err="1"/>
              <a:t>clústering</a:t>
            </a:r>
            <a:r>
              <a:rPr lang="es-ES" dirty="0"/>
              <a:t> con 5 clústeres para una clasificación detallada, la </a:t>
            </a:r>
            <a:r>
              <a:rPr lang="es-ES" dirty="0" err="1"/>
              <a:t>clústering</a:t>
            </a:r>
            <a:r>
              <a:rPr lang="es-ES" dirty="0"/>
              <a:t> con 4 clústeres para una visión general.</a:t>
            </a:r>
          </a:p>
        </p:txBody>
      </p:sp>
    </p:spTree>
    <p:extLst>
      <p:ext uri="{BB962C8B-B14F-4D97-AF65-F5344CB8AC3E}">
        <p14:creationId xmlns:p14="http://schemas.microsoft.com/office/powerpoint/2010/main" val="87787876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AC6F84-FC50-F2BE-B192-AB08F15DE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s" b="1" dirty="0"/>
              <a:t>Conclusión</a:t>
            </a:r>
            <a:br>
              <a:rPr lang="es-ES" sz="4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</a:br>
            <a:endParaRPr lang="es-E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018F33-35C8-8762-4DCF-D39DBF711D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605" y="1091148"/>
            <a:ext cx="10515600" cy="4492149"/>
          </a:xfrm>
        </p:spPr>
        <p:txBody>
          <a:bodyPr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" sz="2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PM2.5 es la característica más importante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" sz="2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   </a:t>
            </a:r>
            <a:r>
              <a:rPr lang="es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PM2.5 es constantemente la característica principal en todos los modelos, lo que demuestra su fuerte impacto en la calidad del aire y la salud humana </a:t>
            </a:r>
            <a:r>
              <a:rPr lang="es" sz="2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en-US" sz="2400" b="1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" sz="2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Aspectos destacados del rendimiento del modelo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Gradient Boosting</a:t>
            </a:r>
            <a:r>
              <a:rPr lang="es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: mejor rendimiento con el MAE más bajo (4,576557) en regresión y la mayor precisión (94,26 %) en clasificación.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Modelos MLP: mostraron buenos resultados y flexibilidad en el análisis de la importancia de las características.</a:t>
            </a:r>
            <a:endParaRPr lang="es-ES" sz="2400" dirty="0"/>
          </a:p>
        </p:txBody>
      </p:sp>
    </p:spTree>
    <p:extLst>
      <p:ext uri="{BB962C8B-B14F-4D97-AF65-F5344CB8AC3E}">
        <p14:creationId xmlns:p14="http://schemas.microsoft.com/office/powerpoint/2010/main" val="422207762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04D2B4-E74F-B833-62A1-32FE957D58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396882" cy="1151965"/>
          </a:xfrm>
        </p:spPr>
        <p:txBody>
          <a:bodyPr/>
          <a:lstStyle/>
          <a:p>
            <a:r>
              <a:rPr lang="es" b="1" dirty="0"/>
              <a:t>Futuro</a:t>
            </a:r>
            <a:r>
              <a:rPr lang="es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s" b="1" dirty="0" err="1"/>
              <a:t>Instrucciones</a:t>
            </a:r>
            <a:endParaRPr lang="es-ES" b="1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53E26E6-CC43-F98E-6CE5-E5ABF42102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65" y="1329678"/>
            <a:ext cx="11758278" cy="5192413"/>
          </a:xfrm>
        </p:spPr>
        <p:txBody>
          <a:bodyPr>
            <a:normAutofit fontScale="92500"/>
          </a:bodyPr>
          <a:lstStyle/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s" sz="3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Centrarse en un área y ampliar el </a:t>
            </a:r>
            <a:r>
              <a:rPr lang="en-US" sz="3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Dataset</a:t>
            </a:r>
            <a:endParaRPr lang="es" sz="3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457200" lvl="1" indent="0">
              <a:lnSpc>
                <a:spcPct val="107000"/>
              </a:lnSpc>
              <a:spcAft>
                <a:spcPts val="800"/>
              </a:spcAft>
              <a:buNone/>
              <a:tabLst>
                <a:tab pos="457200" algn="l"/>
              </a:tabLst>
            </a:pPr>
            <a:r>
              <a:rPr lang="es" sz="3000" kern="1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Al centrarnos en un área específica, podemos identificar patrones localizados, como tendencias estacionales, densidad de tráfico o contaminación industrial.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s" sz="3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Ampliar el </a:t>
            </a:r>
            <a:r>
              <a:rPr lang="en-US" sz="3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Dataset </a:t>
            </a:r>
            <a:r>
              <a:rPr lang="es" sz="3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para incluir factores meteorológicos</a:t>
            </a:r>
          </a:p>
          <a:p>
            <a:pPr marL="457200" lvl="1" indent="0">
              <a:lnSpc>
                <a:spcPct val="107000"/>
              </a:lnSpc>
              <a:spcAft>
                <a:spcPts val="800"/>
              </a:spcAft>
              <a:buNone/>
              <a:tabLst>
                <a:tab pos="457200" algn="l"/>
              </a:tabLst>
            </a:pPr>
            <a:r>
              <a:rPr lang="es" sz="3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por ejemplo, temperatura, humedad, velocidad del viento.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s" sz="3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Uso de </a:t>
            </a:r>
            <a:r>
              <a:rPr lang="en-US" sz="3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Time Series Data </a:t>
            </a:r>
            <a:r>
              <a:rPr lang="es" sz="3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para predecir el comportamiento del ICA</a:t>
            </a:r>
          </a:p>
          <a:p>
            <a:pPr marL="457200" lvl="1" indent="0">
              <a:lnSpc>
                <a:spcPct val="107000"/>
              </a:lnSpc>
              <a:spcAft>
                <a:spcPts val="800"/>
              </a:spcAft>
              <a:buNone/>
              <a:tabLst>
                <a:tab pos="457200" algn="l"/>
              </a:tabLst>
            </a:pPr>
            <a:r>
              <a:rPr lang="es" sz="3000" dirty="0"/>
              <a:t>Predecir el ICA tanto en el tiempo como en el espacio.</a:t>
            </a:r>
            <a:endParaRPr lang="es-ES" sz="3000" dirty="0"/>
          </a:p>
        </p:txBody>
      </p:sp>
    </p:spTree>
    <p:extLst>
      <p:ext uri="{BB962C8B-B14F-4D97-AF65-F5344CB8AC3E}">
        <p14:creationId xmlns:p14="http://schemas.microsoft.com/office/powerpoint/2010/main" val="146036118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1EB417-B43D-D8AB-5917-7B4ACCD943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98B14DE8-8525-B25C-903E-E6E28674E5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6116" y="1"/>
            <a:ext cx="7125359" cy="685799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791F571-BBB9-5FF0-9F20-082B9BD999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0"/>
            <a:ext cx="12261476" cy="6857999"/>
          </a:xfrm>
          <a:prstGeom prst="rect">
            <a:avLst/>
          </a:prstGeom>
        </p:spPr>
      </p:pic>
      <p:sp>
        <p:nvSpPr>
          <p:cNvPr id="10" name="AutoShape 2" descr="DALL·E 2024-11-08 18.35.44 - Create a professional, visually engaging infographic that showcases global university rankings from 2014 to 2024, focusing on key metrics_ world rank,.webp (1792×1024)">
            <a:extLst>
              <a:ext uri="{FF2B5EF4-FFF2-40B4-BE49-F238E27FC236}">
                <a16:creationId xmlns:a16="http://schemas.microsoft.com/office/drawing/2014/main" id="{8C4BAC0A-1449-7707-FC50-84874C48609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sp>
        <p:nvSpPr>
          <p:cNvPr id="11" name="AutoShape 4" descr="DALL·E 2024-11-08 18.35.44 - Create a professional, visually engaging infographic that showcases global university rankings from 2014 to 2024, focusing on key metrics_ world rank,.webp (1792×1024)">
            <a:extLst>
              <a:ext uri="{FF2B5EF4-FFF2-40B4-BE49-F238E27FC236}">
                <a16:creationId xmlns:a16="http://schemas.microsoft.com/office/drawing/2014/main" id="{E2FD6BFE-2BDE-D81E-CFC5-CD8A4A665D0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DE822E0-4079-5170-17C6-01D1AF4F51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2" y="-2"/>
            <a:ext cx="12271717" cy="672084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FDAB3F1-1EA7-E83C-6B54-DB811BD68857}"/>
              </a:ext>
            </a:extLst>
          </p:cNvPr>
          <p:cNvSpPr txBox="1"/>
          <p:nvPr/>
        </p:nvSpPr>
        <p:spPr>
          <a:xfrm>
            <a:off x="200706" y="137161"/>
            <a:ext cx="4279854" cy="3785652"/>
          </a:xfrm>
          <a:prstGeom prst="rect">
            <a:avLst/>
          </a:prstGeom>
          <a:blipFill>
            <a:blip r:embed="rId5"/>
            <a:tile tx="0" ty="0" sx="100000" sy="100000" flip="none" algn="tl"/>
          </a:blipFill>
          <a:scene3d>
            <a:camera prst="perspectiveRight"/>
            <a:lightRig rig="threePt" dir="t"/>
          </a:scene3d>
          <a:sp3d>
            <a:bevelT prst="relaxedInset"/>
          </a:sp3d>
        </p:spPr>
        <p:txBody>
          <a:bodyPr wrap="square" rtlCol="0">
            <a:spAutoFit/>
          </a:bodyPr>
          <a:lstStyle/>
          <a:p>
            <a:pPr algn="ctr"/>
            <a:endParaRPr lang="es-ES" sz="3000" dirty="0">
              <a:solidFill>
                <a:srgbClr val="FF0000"/>
              </a:solidFill>
            </a:endParaRPr>
          </a:p>
          <a:p>
            <a:pPr algn="ctr"/>
            <a:r>
              <a:rPr lang="es" sz="3000" dirty="0" err="1">
                <a:solidFill>
                  <a:srgbClr val="FF0000"/>
                </a:solidFill>
              </a:rPr>
              <a:t>Gracias</a:t>
            </a:r>
            <a:r>
              <a:rPr lang="es" sz="3000" dirty="0">
                <a:solidFill>
                  <a:srgbClr val="FF0000"/>
                </a:solidFill>
              </a:rPr>
              <a:t> </a:t>
            </a:r>
            <a:r>
              <a:rPr lang="es" sz="3000" dirty="0" err="1">
                <a:solidFill>
                  <a:srgbClr val="FF0000"/>
                </a:solidFill>
              </a:rPr>
              <a:t>para</a:t>
            </a:r>
            <a:r>
              <a:rPr lang="es" sz="3000" dirty="0">
                <a:solidFill>
                  <a:srgbClr val="FF0000"/>
                </a:solidFill>
              </a:rPr>
              <a:t> </a:t>
            </a:r>
            <a:r>
              <a:rPr lang="es" sz="3000" dirty="0" err="1">
                <a:solidFill>
                  <a:srgbClr val="FF0000"/>
                </a:solidFill>
              </a:rPr>
              <a:t>su</a:t>
            </a:r>
            <a:r>
              <a:rPr lang="es" sz="3000" dirty="0">
                <a:solidFill>
                  <a:srgbClr val="FF0000"/>
                </a:solidFill>
              </a:rPr>
              <a:t> </a:t>
            </a:r>
            <a:r>
              <a:rPr lang="es" sz="3000" dirty="0" err="1">
                <a:solidFill>
                  <a:srgbClr val="FF0000"/>
                </a:solidFill>
              </a:rPr>
              <a:t>atención</a:t>
            </a:r>
            <a:endParaRPr lang="es-ES" sz="3000" dirty="0">
              <a:solidFill>
                <a:srgbClr val="FF0000"/>
              </a:solidFill>
            </a:endParaRPr>
          </a:p>
          <a:p>
            <a:pPr algn="ctr"/>
            <a:endParaRPr lang="es-ES" sz="3000" dirty="0">
              <a:solidFill>
                <a:srgbClr val="FF0000"/>
              </a:solidFill>
            </a:endParaRPr>
          </a:p>
          <a:p>
            <a:pPr algn="ctr"/>
            <a:endParaRPr lang="es-ES" sz="3000" dirty="0">
              <a:solidFill>
                <a:srgbClr val="FF0000"/>
              </a:solidFill>
            </a:endParaRPr>
          </a:p>
          <a:p>
            <a:pPr algn="ctr"/>
            <a:r>
              <a:rPr lang="es" sz="3000" dirty="0" err="1">
                <a:solidFill>
                  <a:srgbClr val="FF0000"/>
                </a:solidFill>
              </a:rPr>
              <a:t>Eskerrik</a:t>
            </a:r>
            <a:r>
              <a:rPr lang="es" sz="3000" dirty="0">
                <a:solidFill>
                  <a:srgbClr val="FF0000"/>
                </a:solidFill>
              </a:rPr>
              <a:t> </a:t>
            </a:r>
            <a:r>
              <a:rPr lang="es" sz="3000" dirty="0" err="1">
                <a:solidFill>
                  <a:srgbClr val="FF0000"/>
                </a:solidFill>
              </a:rPr>
              <a:t>pregúntale a </a:t>
            </a:r>
            <a:r>
              <a:rPr lang="es" sz="3000" dirty="0">
                <a:solidFill>
                  <a:srgbClr val="FF0000"/>
                </a:solidFill>
              </a:rPr>
              <a:t>tu </a:t>
            </a:r>
            <a:r>
              <a:rPr lang="es" sz="3000" dirty="0" err="1">
                <a:solidFill>
                  <a:srgbClr val="FF0000"/>
                </a:solidFill>
              </a:rPr>
              <a:t>arretagatik</a:t>
            </a:r>
            <a:endParaRPr lang="es-ES" sz="3000" dirty="0">
              <a:solidFill>
                <a:srgbClr val="FF0000"/>
              </a:solidFill>
            </a:endParaRPr>
          </a:p>
          <a:p>
            <a:pPr algn="ctr"/>
            <a:endParaRPr lang="es-ES" sz="3000" dirty="0">
              <a:solidFill>
                <a:srgbClr val="FF0000"/>
              </a:solidFill>
            </a:endParaRPr>
          </a:p>
          <a:p>
            <a:pPr algn="ctr"/>
            <a:endParaRPr lang="es-ES" sz="3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661160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8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79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8280</TotalTime>
  <Words>1739</Words>
  <Application>Microsoft Office PowerPoint</Application>
  <PresentationFormat>Widescreen</PresentationFormat>
  <Paragraphs>374</Paragraphs>
  <Slides>25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5" baseType="lpstr">
      <vt:lpstr>Microsoft JhengHei</vt:lpstr>
      <vt:lpstr>Arial</vt:lpstr>
      <vt:lpstr>Arial Black</vt:lpstr>
      <vt:lpstr>Calibri</vt:lpstr>
      <vt:lpstr>Calibri Light</vt:lpstr>
      <vt:lpstr>Consolas</vt:lpstr>
      <vt:lpstr>DM Sans</vt:lpstr>
      <vt:lpstr>Google Sans</vt:lpstr>
      <vt:lpstr>Times New Roman</vt:lpstr>
      <vt:lpstr>Office Theme</vt:lpstr>
      <vt:lpstr>Predicción de la calidad del aire  </vt:lpstr>
      <vt:lpstr>¿Qué es la calidad del aire?</vt:lpstr>
      <vt:lpstr>Características clave que afectan la calidad del aire</vt:lpstr>
      <vt:lpstr>Características clave que afectan la calidad del aire</vt:lpstr>
      <vt:lpstr>Fuente de datos</vt:lpstr>
      <vt:lpstr>Problemas en los datos</vt:lpstr>
      <vt:lpstr>ICA</vt:lpstr>
      <vt:lpstr>PowerPoint Presentation</vt:lpstr>
      <vt:lpstr>Regression</vt:lpstr>
      <vt:lpstr>PowerPoint Presentation</vt:lpstr>
      <vt:lpstr>Regression</vt:lpstr>
      <vt:lpstr>Regression</vt:lpstr>
      <vt:lpstr>Classification</vt:lpstr>
      <vt:lpstr>Classification</vt:lpstr>
      <vt:lpstr>Classification</vt:lpstr>
      <vt:lpstr>PowerPoint Presentation</vt:lpstr>
      <vt:lpstr>PowerPoint Presentation</vt:lpstr>
      <vt:lpstr>PowerPoint Presentation</vt:lpstr>
      <vt:lpstr>PowerPoint Presentation</vt:lpstr>
      <vt:lpstr>Clustering</vt:lpstr>
      <vt:lpstr>Clustering</vt:lpstr>
      <vt:lpstr>Clustering</vt:lpstr>
      <vt:lpstr>Conclusión </vt:lpstr>
      <vt:lpstr>Futuro Instrucciones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Arman naeini</dc:creator>
  <cp:lastModifiedBy>Arman naeini</cp:lastModifiedBy>
  <cp:revision>354</cp:revision>
  <dcterms:created xsi:type="dcterms:W3CDTF">2024-11-06T11:27:40Z</dcterms:created>
  <dcterms:modified xsi:type="dcterms:W3CDTF">2025-04-14T18:26:24Z</dcterms:modified>
</cp:coreProperties>
</file>